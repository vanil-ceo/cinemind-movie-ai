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266cc49c81a4070" /><Relationship Type="http://schemas.openxmlformats.org/officeDocument/2006/relationships/extended-properties" Target="/docProps/app.xml" Id="Rca4497dfb586462b" /><Relationship Type="http://schemas.openxmlformats.org/officeDocument/2006/relationships/officeDocument" Target="/ppt/presentation.xml" Id="R9e141f5747804e3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788f5c636b241ad"/>
  </p:sldMasterIdLst>
  <p:notesMasterIdLst>
    <p:notesMasterId xmlns:r="http://schemas.openxmlformats.org/officeDocument/2006/relationships" r:id="Re7464c97706345cf"/>
  </p:notesMasterIdLst>
  <p:sldIdLst>
    <p:sldId xmlns:r="http://schemas.openxmlformats.org/officeDocument/2006/relationships" id="256" r:id="R7ac87dd4029440b1"/>
    <p:sldId xmlns:r="http://schemas.openxmlformats.org/officeDocument/2006/relationships" id="257" r:id="R9e30627ee6c04573"/>
    <p:sldId xmlns:r="http://schemas.openxmlformats.org/officeDocument/2006/relationships" id="258" r:id="Rc0fed0f15a1f453c"/>
    <p:sldId xmlns:r="http://schemas.openxmlformats.org/officeDocument/2006/relationships" id="259" r:id="R4f6ac9ebc55a46bc"/>
    <p:sldId xmlns:r="http://schemas.openxmlformats.org/officeDocument/2006/relationships" id="260" r:id="Rfb45e8ac7248456d"/>
    <p:sldId xmlns:r="http://schemas.openxmlformats.org/officeDocument/2006/relationships" id="261" r:id="R94bdaf51323641a1"/>
    <p:sldId xmlns:r="http://schemas.openxmlformats.org/officeDocument/2006/relationships" id="262" r:id="Ra318b1783bbc44ae"/>
    <p:sldId xmlns:r="http://schemas.openxmlformats.org/officeDocument/2006/relationships" id="263" r:id="Rc7a65a57f73a4cf5"/>
    <p:sldId xmlns:r="http://schemas.openxmlformats.org/officeDocument/2006/relationships" id="264" r:id="Rcfc04745bb84494b"/>
    <p:sldId xmlns:r="http://schemas.openxmlformats.org/officeDocument/2006/relationships" id="265" r:id="R0bc2c800ac9146f2"/>
    <p:sldId xmlns:r="http://schemas.openxmlformats.org/officeDocument/2006/relationships" id="266" r:id="Rcfa16655832c422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e68b35f901f43aa" /><Relationship Type="http://schemas.openxmlformats.org/officeDocument/2006/relationships/slideMaster" Target="/ppt/slideMasters/slideMaster1.xml" Id="R7788f5c636b241ad" /><Relationship Type="http://schemas.openxmlformats.org/officeDocument/2006/relationships/notesMaster" Target="/ppt/notesMasters/notesMaster1.xml" Id="Re7464c97706345cf" /><Relationship Type="http://schemas.openxmlformats.org/officeDocument/2006/relationships/presProps" Target="/ppt/presProps.xml" Id="R7bdbe48be1d04eda" /><Relationship Type="http://schemas.openxmlformats.org/officeDocument/2006/relationships/tableStyles" Target="/ppt/tableStyles.xml" Id="Rd0c83de96bd946aa" /><Relationship Type="http://schemas.openxmlformats.org/officeDocument/2006/relationships/slide" Target="/ppt/slides/slide1.xml" Id="R7ac87dd4029440b1" /><Relationship Type="http://schemas.openxmlformats.org/officeDocument/2006/relationships/slide" Target="/ppt/slides/slide2.xml" Id="R9e30627ee6c04573" /><Relationship Type="http://schemas.openxmlformats.org/officeDocument/2006/relationships/slide" Target="/ppt/slides/slide3.xml" Id="Rc0fed0f15a1f453c" /><Relationship Type="http://schemas.openxmlformats.org/officeDocument/2006/relationships/slide" Target="/ppt/slides/slide4.xml" Id="R4f6ac9ebc55a46bc" /><Relationship Type="http://schemas.openxmlformats.org/officeDocument/2006/relationships/slide" Target="/ppt/slides/slide5.xml" Id="Rfb45e8ac7248456d" /><Relationship Type="http://schemas.openxmlformats.org/officeDocument/2006/relationships/slide" Target="/ppt/slides/slide6.xml" Id="R94bdaf51323641a1" /><Relationship Type="http://schemas.openxmlformats.org/officeDocument/2006/relationships/slide" Target="/ppt/slides/slide7.xml" Id="Ra318b1783bbc44ae" /><Relationship Type="http://schemas.openxmlformats.org/officeDocument/2006/relationships/slide" Target="/ppt/slides/slide8.xml" Id="Rc7a65a57f73a4cf5" /><Relationship Type="http://schemas.openxmlformats.org/officeDocument/2006/relationships/slide" Target="/ppt/slides/slide9.xml" Id="Rcfc04745bb84494b" /><Relationship Type="http://schemas.openxmlformats.org/officeDocument/2006/relationships/slide" Target="/ppt/slides/slide10.xml" Id="R0bc2c800ac9146f2" /><Relationship Type="http://schemas.openxmlformats.org/officeDocument/2006/relationships/slide" Target="/ppt/slides/slide11.xml" Id="Rcfa16655832c422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95b927a61c5433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e4f5bf78be40e0" /><Relationship Type="http://schemas.openxmlformats.org/officeDocument/2006/relationships/notesMaster" Target="/ppt/notesMasters/notesMaster1.xml" Id="Rd5d6b4153f9d4df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6c1238436624462" /><Relationship Type="http://schemas.openxmlformats.org/officeDocument/2006/relationships/notesMaster" Target="/ppt/notesMasters/notesMaster1.xml" Id="R06279be43f034b1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ee009a22b2f4c06" /><Relationship Type="http://schemas.openxmlformats.org/officeDocument/2006/relationships/notesMaster" Target="/ppt/notesMasters/notesMaster1.xml" Id="R0307f6d4a91f4d0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837e620b35349cd" /><Relationship Type="http://schemas.openxmlformats.org/officeDocument/2006/relationships/notesMaster" Target="/ppt/notesMasters/notesMaster1.xml" Id="R94fafff6530e48b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81d8656e5c84b6a" /><Relationship Type="http://schemas.openxmlformats.org/officeDocument/2006/relationships/notesMaster" Target="/ppt/notesMasters/notesMaster1.xml" Id="Re51fe3593ba94ea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88e3cad116b4cb9" /><Relationship Type="http://schemas.openxmlformats.org/officeDocument/2006/relationships/notesMaster" Target="/ppt/notesMasters/notesMaster1.xml" Id="R179aed1148204ff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80c212dfed74cec" /><Relationship Type="http://schemas.openxmlformats.org/officeDocument/2006/relationships/notesMaster" Target="/ppt/notesMasters/notesMaster1.xml" Id="Rcb74f2686b03489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731853e1c5741cb" /><Relationship Type="http://schemas.openxmlformats.org/officeDocument/2006/relationships/notesMaster" Target="/ppt/notesMasters/notesMaster1.xml" Id="Rbc2477589e2b4db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040146aaac349f5" /><Relationship Type="http://schemas.openxmlformats.org/officeDocument/2006/relationships/notesMaster" Target="/ppt/notesMasters/notesMaster1.xml" Id="Re185f4383b85458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dad0415424e4cb4" /><Relationship Type="http://schemas.openxmlformats.org/officeDocument/2006/relationships/notesMaster" Target="/ppt/notesMasters/notesMaster1.xml" Id="Rc34ba6cb33a7447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096be5ed7104911" /><Relationship Type="http://schemas.openxmlformats.org/officeDocument/2006/relationships/notesMaster" Target="/ppt/notesMasters/notesMaster1.xml" Id="Rd5f16e535f4e4dd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91a6699d4f4d8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851ea7a28f04714" /><Relationship Type="http://schemas.openxmlformats.org/officeDocument/2006/relationships/slideLayout" Target="/ppt/slideLayouts/slideLayout1.xml" Id="R9b38e318525a4f7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38e318525a4f7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cdc52638d34672" /><Relationship Type="http://schemas.openxmlformats.org/officeDocument/2006/relationships/image" Target="/ppt/media/image.jpeg" Id="R7039403c6305490a" /><Relationship Type="http://schemas.openxmlformats.org/officeDocument/2006/relationships/notesSlide" Target="/ppt/notesSlides/notesSlide1.xml" Id="Rad608270e84d488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028406267540a9" /><Relationship Type="http://schemas.openxmlformats.org/officeDocument/2006/relationships/notesSlide" Target="/ppt/notesSlides/notesSlide2.xml" Id="Rb43121cbe90d4b8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a8bbac779f44ca" /><Relationship Type="http://schemas.openxmlformats.org/officeDocument/2006/relationships/notesSlide" Target="/ppt/notesSlides/notesSlide3.xml" Id="Rf949523cb41240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0d7dbc3e4549a9" /><Relationship Type="http://schemas.openxmlformats.org/officeDocument/2006/relationships/image" Target="/ppt/media/image.png" Id="R3314c4d8dfdd4dd2" /><Relationship Type="http://schemas.openxmlformats.org/officeDocument/2006/relationships/notesSlide" Target="/ppt/notesSlides/notesSlide4.xml" Id="R3f95bfdcaf7345b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b0340f373a4181" /><Relationship Type="http://schemas.openxmlformats.org/officeDocument/2006/relationships/image" Target="/ppt/media/image2.png" Id="Raf4a699032ee4bcf" /><Relationship Type="http://schemas.openxmlformats.org/officeDocument/2006/relationships/notesSlide" Target="/ppt/notesSlides/notesSlide5.xml" Id="Re5bfbd217b0746a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24bb5bb2b84093" /><Relationship Type="http://schemas.openxmlformats.org/officeDocument/2006/relationships/image" Target="/ppt/media/image3.png" Id="Rcd02cd684a884186" /><Relationship Type="http://schemas.openxmlformats.org/officeDocument/2006/relationships/notesSlide" Target="/ppt/notesSlides/notesSlide6.xml" Id="Rc2c97ef4dd994e4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82b9598c5c4c79" /><Relationship Type="http://schemas.openxmlformats.org/officeDocument/2006/relationships/image" Target="/ppt/media/image2.jpeg" Id="R159fea66b2914e01" /><Relationship Type="http://schemas.openxmlformats.org/officeDocument/2006/relationships/image" Target="/ppt/media/image4.png" Id="R9f2aa51837224b76" /><Relationship Type="http://schemas.openxmlformats.org/officeDocument/2006/relationships/notesSlide" Target="/ppt/notesSlides/notesSlide7.xml" Id="R8ffc8dc5cb8640e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2cee9da3541dc" /><Relationship Type="http://schemas.openxmlformats.org/officeDocument/2006/relationships/image" Target="/ppt/media/image3.jpeg" Id="R06897ed9ec0c492d" /><Relationship Type="http://schemas.openxmlformats.org/officeDocument/2006/relationships/image" Target="/ppt/media/image4.jpeg" Id="R2ade71833fae4a48" /><Relationship Type="http://schemas.openxmlformats.org/officeDocument/2006/relationships/image" Target="/ppt/media/image5.jpeg" Id="Rfcf2e3481b09407a" /><Relationship Type="http://schemas.openxmlformats.org/officeDocument/2006/relationships/image" Target="/ppt/media/image6.jpeg" Id="Rbaa50d98801846ae" /><Relationship Type="http://schemas.openxmlformats.org/officeDocument/2006/relationships/notesSlide" Target="/ppt/notesSlides/notesSlide8.xml" Id="R556a636f12e24dd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27dd280f804281" /><Relationship Type="http://schemas.openxmlformats.org/officeDocument/2006/relationships/image" Target="/ppt/media/image5.png" Id="R07f438511036449f" /><Relationship Type="http://schemas.openxmlformats.org/officeDocument/2006/relationships/image" Target="/ppt/media/image6.png" Id="Rc374a20f46634663" /><Relationship Type="http://schemas.openxmlformats.org/officeDocument/2006/relationships/image" Target="/ppt/media/image7.png" Id="R5cd7e5cce0c24ea4" /><Relationship Type="http://schemas.openxmlformats.org/officeDocument/2006/relationships/notesSlide" Target="/ppt/notesSlides/notesSlide9.xml" Id="Re6e04e541a6941c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d7161bc2a04f29" /><Relationship Type="http://schemas.openxmlformats.org/officeDocument/2006/relationships/notesSlide" Target="/ppt/notesSlides/notesSlide10.xml" Id="R3089bada4c7344d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af56d687464f31" /><Relationship Type="http://schemas.openxmlformats.org/officeDocument/2006/relationships/notesSlide" Target="/ppt/notesSlides/notesSlide11.xml" Id="R13f1baa9f3b14b2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204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1E2A6F-04FE-4C6F-A8D0-7D7973584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8A4911-04E0-4647-9352-22EE6FCF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4049F3-1A8A-4399-A342-871220BC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7F8FF"/>
                </a:solidFill>
              </a:defRPr>
            </a:pPr>
            <a:r>
              <a:rPr sz="4350" b="1">
                <a:solidFill>
                  <a:srgbClr val="F7F8FF"/>
                </a:solidFill>
              </a:rPr>
              <a:t>CineMind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22BEF9-070F-4248-B51B-ECE852471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38300"/>
            <a:ext cx="647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A9B0C2"/>
                </a:solidFill>
              </a:defRPr>
            </a:pPr>
            <a:r>
              <a:rPr sz="1950" b="0">
                <a:solidFill>
                  <a:srgbClr val="A9B0C2"/>
                </a:solidFill>
              </a:rPr>
              <a:t>Мобільний застосунок для персональних рекомендацій фільмів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EC5508-94D8-4B36-9831-A5C4E111E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33650"/>
            <a:ext cx="10477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0A84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5A3180-22A6-4CE8-AA42-E82DC7645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0325"/>
            <a:ext cx="819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A84FF"/>
                </a:solidFill>
              </a:defRPr>
            </a:pPr>
            <a:r>
              <a:rPr sz="1050" b="1">
                <a:solidFill>
                  <a:srgbClr val="0A84FF"/>
                </a:solidFill>
              </a:rPr>
              <a:t>Flutter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0BED00-879C-454F-B126-0748756E1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533650"/>
            <a:ext cx="10477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04C1AA-E87E-4A39-B58B-BF6049650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600325"/>
            <a:ext cx="819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D4CF"/>
                </a:solidFill>
              </a:defRPr>
            </a:pPr>
            <a:r>
              <a:rPr sz="1050" b="1">
                <a:solidFill>
                  <a:srgbClr val="66D4CF"/>
                </a:solidFill>
              </a:rPr>
              <a:t>FastAPI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C2CD7B-CB40-4EC4-BE34-6BBA0DE5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33650"/>
            <a:ext cx="13525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30D15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3FEE91-AADD-4914-BCAE-4A715FF8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600325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30D158"/>
                </a:solidFill>
              </a:defRPr>
            </a:pPr>
            <a:r>
              <a:rPr sz="1050" b="1">
                <a:solidFill>
                  <a:srgbClr val="30D158"/>
                </a:solidFill>
              </a:rPr>
              <a:t>PostgreSQL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F7A563-71CB-4960-89A3-0837A79A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533650"/>
            <a:ext cx="11239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BF5A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863791-579E-4FD8-963C-128E5244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600325"/>
            <a:ext cx="895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BF5AF2"/>
                </a:solidFill>
              </a:defRPr>
            </a:pPr>
            <a:r>
              <a:rPr sz="1050" b="1">
                <a:solidFill>
                  <a:srgbClr val="BF5AF2"/>
                </a:solidFill>
              </a:rPr>
              <a:t>Підбір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39403c6305490a"/>
          <a:stretch xmlns:a="http://schemas.openxmlformats.org/drawingml/2006/main"/>
        </p:blipFill>
        <p:spPr>
          <a:xfrm xmlns:a="http://schemas.openxmlformats.org/drawingml/2006/main">
            <a:off x="7239000" y="2202656"/>
            <a:ext cx="3886200" cy="2185988"/>
          </a:xfrm>
          <a:prstGeom xmlns:a="http://schemas.openxmlformats.org/drawingml/2006/main" prst="roundRect">
            <a:avLst>
              <a:gd name="adj" fmla="val 2941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73418C-65CD-4770-97CE-6321E3FA8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721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D4CF"/>
                </a:solidFill>
              </a:defRPr>
            </a:pPr>
            <a:r>
              <a:rPr sz="1350" b="1">
                <a:solidFill>
                  <a:srgbClr val="66D4CF"/>
                </a:solidFill>
              </a:rPr>
              <a:t>Захист проєкту · тиждень 5</a:t>
            </a:r>
          </a:p>
        </p:txBody>
      </p:sp>
    </p:spTree>
    <p:extLst>
      <p:ext uri="{BB962C8B-B14F-4D97-AF65-F5344CB8AC3E}">
        <p14:creationId xmlns:p14="http://schemas.microsoft.com/office/powerpoint/2010/main" val="2763541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204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C0BD2D-E081-4E95-9D9A-A3C0FDBE4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2C7C6D-B459-4108-A1B6-60CE060E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3752B2-7D16-46B4-8702-AC9C4465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D4CF"/>
                </a:solidFill>
              </a:defRPr>
            </a:pPr>
            <a:r>
              <a:rPr sz="1350" b="1">
                <a:solidFill>
                  <a:srgbClr val="66D4CF"/>
                </a:solidFill>
              </a:rPr>
              <a:t>CineMind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909688-EAC8-47A1-A6EB-3130D285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723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7F8FF"/>
                </a:solidFill>
              </a:defRPr>
            </a:pPr>
            <a:r>
              <a:rPr sz="3000" b="1">
                <a:solidFill>
                  <a:srgbClr val="F7F8FF"/>
                </a:solidFill>
              </a:rPr>
              <a:t>Ідея проєкту: персональні рекомендації фільмів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0EA76F-FFA2-47CB-90F6-3D3260773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9B0C2"/>
                </a:solidFill>
              </a:defRPr>
            </a:pPr>
            <a:r>
              <a:rPr sz="1500" b="0">
                <a:solidFill>
                  <a:srgbClr val="A9B0C2"/>
                </a:solidFill>
              </a:rPr>
              <a:t>У 5 тижні я доробив інтерфейс, списки, оцінки, коментарі, профіль і підключення backend-частини.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984E8F-9ACA-4C59-A829-D8460C71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22860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71A23"/>
          </a:solidFill>
          <a:ln xmlns:a="http://schemas.openxmlformats.org/drawingml/2006/main" w="9525">
            <a:solidFill>
              <a:srgbClr val="0A84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1C547F-2C09-4CA1-9EDB-78103B78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289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A84FF"/>
                </a:solidFill>
              </a:defRPr>
            </a:pPr>
            <a:r>
              <a:rPr sz="2250" b="1">
                <a:solidFill>
                  <a:srgbClr val="0A84FF"/>
                </a:solidFill>
              </a:rPr>
              <a:t>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476355-3FA1-4EA6-9367-BB8805225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2895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0C2"/>
                </a:solidFill>
              </a:defRPr>
            </a:pPr>
            <a:r>
              <a:rPr sz="1125" b="0">
                <a:solidFill>
                  <a:srgbClr val="A9B0C2"/>
                </a:solidFill>
              </a:rPr>
              <a:t>фільмів у seed-каталозі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8BEB1D-7153-4F78-89CA-48D66BD1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76500"/>
            <a:ext cx="22860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71A23"/>
          </a:solidFill>
          <a:ln xmlns:a="http://schemas.openxmlformats.org/drawingml/2006/main" w="9525">
            <a:solidFill>
              <a:srgbClr val="30D15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770BF5-9CFA-4063-B433-528AECAA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289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0D158"/>
                </a:solidFill>
              </a:defRPr>
            </a:pPr>
            <a:r>
              <a:rPr sz="2250" b="1">
                <a:solidFill>
                  <a:srgbClr val="30D158"/>
                </a:solidFill>
              </a:rPr>
              <a:t>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754740-9F04-4169-BEAE-45EF877B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2895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0C2"/>
                </a:solidFill>
              </a:defRPr>
            </a:pPr>
            <a:r>
              <a:rPr sz="1125" b="0">
                <a:solidFill>
                  <a:srgbClr val="A9B0C2"/>
                </a:solidFill>
              </a:rPr>
              <a:t>таблиць PostgreSQL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98781A-3CFF-4F5C-A948-D6C3BC3AB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76500"/>
            <a:ext cx="22860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71A23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6FCF26-8D71-4763-8AD1-C0A7341B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289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6D4CF"/>
                </a:solidFill>
              </a:defRPr>
            </a:pPr>
            <a:r>
              <a:rPr sz="2250" b="1">
                <a:solidFill>
                  <a:srgbClr val="66D4CF"/>
                </a:solidFill>
              </a:rPr>
              <a:t>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4081A2-6330-429A-9E37-41D8B66C4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2895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0C2"/>
                </a:solidFill>
              </a:defRPr>
            </a:pPr>
            <a:r>
              <a:rPr sz="1125" b="0">
                <a:solidFill>
                  <a:srgbClr val="A9B0C2"/>
                </a:solidFill>
              </a:rPr>
              <a:t>FastAPI endpoint-ів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3C14A2-774F-4389-99EE-0319B2D0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476500"/>
            <a:ext cx="22860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71A23"/>
          </a:solidFill>
          <a:ln xmlns:a="http://schemas.openxmlformats.org/drawingml/2006/main" w="9525">
            <a:solidFill>
              <a:srgbClr val="BF5A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8FD077-C55A-471F-94AC-5A857F9E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289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F5AF2"/>
                </a:solidFill>
              </a:defRPr>
            </a:pPr>
            <a:r>
              <a:rPr sz="2250" b="1">
                <a:solidFill>
                  <a:srgbClr val="BF5AF2"/>
                </a:solidFill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5BC52F-91C5-4FFE-AC73-6E9AD0A9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2895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0C2"/>
                </a:solidFill>
              </a:defRPr>
            </a:pPr>
            <a:r>
              <a:rPr sz="1125" b="0">
                <a:solidFill>
                  <a:srgbClr val="A9B0C2"/>
                </a:solidFill>
              </a:rPr>
              <a:t>сигнали для підбору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81F617-6C62-4B13-A07B-F35C079D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95750"/>
            <a:ext cx="3238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822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201271-8DB3-4C65-9965-D429537BB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624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D4CF"/>
                </a:solidFill>
              </a:defRPr>
            </a:pPr>
            <a:r>
              <a:rPr sz="1050" b="1">
                <a:solidFill>
                  <a:srgbClr val="66D4CF"/>
                </a:solidFill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62AFE5-D912-4BC8-A809-F77A35FE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114800"/>
            <a:ext cx="925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7F8FF"/>
                </a:solidFill>
              </a:defRPr>
            </a:pPr>
            <a:r>
              <a:rPr sz="1350" b="0">
                <a:solidFill>
                  <a:srgbClr val="F7F8FF"/>
                </a:solidFill>
              </a:rPr>
              <a:t>Переробив головний екран у темному стилі з афішами, великим банером і нижньою навігацією.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BC8343-0564-4063-B77C-8BFE3F7DF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3238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822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0CF590-2D2C-41AA-84DF-7EF5E476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148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D4CF"/>
                </a:solidFill>
              </a:defRPr>
            </a:pPr>
            <a:r>
              <a:rPr sz="1050" b="1">
                <a:solidFill>
                  <a:srgbClr val="66D4CF"/>
                </a:solidFill>
              </a:rPr>
              <a:t>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421D79-AB2D-4CCF-8D90-893606D3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925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7F8FF"/>
                </a:solidFill>
              </a:defRPr>
            </a:pPr>
            <a:r>
              <a:rPr sz="1350" b="0">
                <a:solidFill>
                  <a:srgbClr val="F7F8FF"/>
                </a:solidFill>
              </a:rPr>
              <a:t>Додав рейтинги, коментарі, профіль із фото, списки “обране / пізніше / переглянуто”.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ED1488-2FCF-4A27-9838-72419A00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00650"/>
            <a:ext cx="3238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822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D20322-6148-44CA-9885-9F6AA3FC4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673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D4CF"/>
                </a:solidFill>
              </a:defRPr>
            </a:pPr>
            <a:r>
              <a:rPr sz="1050" b="1">
                <a:solidFill>
                  <a:srgbClr val="66D4CF"/>
                </a:solidFill>
              </a:rPr>
              <a:t>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C10E45-93A7-40FF-BE76-40723311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219700"/>
            <a:ext cx="925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7F8FF"/>
                </a:solidFill>
              </a:defRPr>
            </a:pPr>
            <a:r>
              <a:rPr sz="1350" b="0">
                <a:solidFill>
                  <a:srgbClr val="F7F8FF"/>
                </a:solidFill>
              </a:rPr>
              <a:t>Підготував backend на FastAPI та PostgreSQL-схему для каталогу і дій користувача.</a:t>
            </a:r>
          </a:p>
        </p:txBody>
      </p:sp>
    </p:spTree>
    <p:extLst>
      <p:ext uri="{BB962C8B-B14F-4D97-AF65-F5344CB8AC3E}">
        <p14:creationId xmlns:p14="http://schemas.microsoft.com/office/powerpoint/2010/main" val="654857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204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253D10-E3A6-46AD-B814-DB0A0C2B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8A3863-C669-4376-B21A-8F9E81310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FA201A-1093-4E58-825C-19E6E64BF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D4CF"/>
                </a:solidFill>
              </a:defRPr>
            </a:pPr>
            <a:r>
              <a:rPr sz="1350" b="1">
                <a:solidFill>
                  <a:srgbClr val="66D4CF"/>
                </a:solidFill>
              </a:rPr>
              <a:t>CineMind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BD8833-063F-4AAE-8D7D-EEF0C6C81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723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7F8FF"/>
                </a:solidFill>
              </a:defRPr>
            </a:pPr>
            <a:r>
              <a:rPr sz="3000" b="1">
                <a:solidFill>
                  <a:srgbClr val="F7F8FF"/>
                </a:solidFill>
              </a:rPr>
              <a:t>Архітектура застосунку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F86100-4BBA-4F61-A416-3C43A940B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9B0C2"/>
                </a:solidFill>
              </a:defRPr>
            </a:pPr>
            <a:r>
              <a:rPr sz="1500" b="0">
                <a:solidFill>
                  <a:srgbClr val="A9B0C2"/>
                </a:solidFill>
              </a:rPr>
              <a:t>Дані проходять від Flutter-інтерфейсу до FastAPI, зберігаються в PostgreSQL і використовуються для рекомендацій.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143A10-E473-4D59-9B95-D4B3ACFB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2000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71A23"/>
          </a:solidFill>
          <a:ln xmlns:a="http://schemas.openxmlformats.org/drawingml/2006/main" w="9525">
            <a:solidFill>
              <a:srgbClr val="0A84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7479AE-D012-41CD-8E1C-D5C7E4CB5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52750"/>
            <a:ext cx="1657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A84FF"/>
                </a:solidFill>
              </a:defRPr>
            </a:pPr>
            <a:r>
              <a:rPr sz="1800" b="1">
                <a:solidFill>
                  <a:srgbClr val="0A84FF"/>
                </a:solidFill>
              </a:rPr>
              <a:t>Flutter UI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95F26B-FFE8-46B9-970F-FE355D15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9B0C2"/>
                </a:solidFill>
              </a:defRPr>
            </a:pPr>
            <a:r>
              <a:rPr sz="1200" b="0">
                <a:solidFill>
                  <a:srgbClr val="A9B0C2"/>
                </a:solidFill>
              </a:rPr>
              <a:t>екрани, анімації, профіль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D92BC6-8D41-4D3E-89FE-7206E4B7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004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6D4CF"/>
                </a:solidFill>
              </a:defRPr>
            </a:pPr>
            <a:r>
              <a:rPr sz="2100" b="1">
                <a:solidFill>
                  <a:srgbClr val="66D4CF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D41F80-CEBF-4A9C-B07F-B59A5677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686050"/>
            <a:ext cx="2000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71A23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CE0987-731D-4FC7-A5E9-77FCC254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952750"/>
            <a:ext cx="1657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6D4CF"/>
                </a:solidFill>
              </a:defRPr>
            </a:pPr>
            <a:r>
              <a:rPr sz="1800" b="1">
                <a:solidFill>
                  <a:srgbClr val="66D4CF"/>
                </a:solidFill>
              </a:rPr>
              <a:t>FastAPI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E37D5C-0C77-4692-85E0-7A637EAA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9090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9B0C2"/>
                </a:solidFill>
              </a:defRPr>
            </a:pPr>
            <a:r>
              <a:rPr sz="1200" b="0">
                <a:solidFill>
                  <a:srgbClr val="A9B0C2"/>
                </a:solidFill>
              </a:rPr>
              <a:t>REST endpoint-и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8B0BD9-6053-4F0B-86B5-9D2130371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2004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6D4CF"/>
                </a:solidFill>
              </a:defRPr>
            </a:pPr>
            <a:r>
              <a:rPr sz="2100" b="1">
                <a:solidFill>
                  <a:srgbClr val="66D4CF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763994-C722-4ED2-8718-D96498496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86050"/>
            <a:ext cx="2000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71A23"/>
          </a:solidFill>
          <a:ln xmlns:a="http://schemas.openxmlformats.org/drawingml/2006/main" w="9525">
            <a:solidFill>
              <a:srgbClr val="30D15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965B62-F33A-4F42-B46E-00E77779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952750"/>
            <a:ext cx="1657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0D158"/>
                </a:solidFill>
              </a:defRPr>
            </a:pPr>
            <a:r>
              <a:rPr sz="1800" b="1">
                <a:solidFill>
                  <a:srgbClr val="30D158"/>
                </a:solidFill>
              </a:rPr>
              <a:t>PostgreSQL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8DAF83-1BC3-485F-B1D1-D189A2334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9090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9B0C2"/>
                </a:solidFill>
              </a:defRPr>
            </a:pPr>
            <a:r>
              <a:rPr sz="1200" b="0">
                <a:solidFill>
                  <a:srgbClr val="A9B0C2"/>
                </a:solidFill>
              </a:rPr>
              <a:t>каталог і дії користувача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D8DB4B-3097-489D-A437-BAFB04E45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004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6D4CF"/>
                </a:solidFill>
              </a:defRPr>
            </a:pPr>
            <a:r>
              <a:rPr sz="2100" b="1">
                <a:solidFill>
                  <a:srgbClr val="66D4CF"/>
                </a:solidFill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6C6D89-30AF-4243-A157-F30F210A6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686050"/>
            <a:ext cx="2000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71A23"/>
          </a:solidFill>
          <a:ln xmlns:a="http://schemas.openxmlformats.org/drawingml/2006/main" w="9525">
            <a:solidFill>
              <a:srgbClr val="BF5A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26EC8E-E207-42F0-975D-EA9EAA20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52750"/>
            <a:ext cx="1657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F5AF2"/>
                </a:solidFill>
              </a:defRPr>
            </a:pPr>
            <a:r>
              <a:rPr sz="1800" b="1">
                <a:solidFill>
                  <a:srgbClr val="BF5AF2"/>
                </a:solidFill>
              </a:rPr>
              <a:t>Підбір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C4050E-6955-404C-B128-222BE3215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9090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9B0C2"/>
                </a:solidFill>
              </a:defRPr>
            </a:pPr>
            <a:r>
              <a:rPr sz="1200" b="0">
                <a:solidFill>
                  <a:srgbClr val="A9B0C2"/>
                </a:solidFill>
              </a:rPr>
              <a:t>рекомендація фільмів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9F6FD1-E3C6-40F4-AB15-C2C7711CB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5775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F7F8FF"/>
                </a:solidFill>
              </a:defRPr>
            </a:pPr>
            <a:r>
              <a:rPr sz="1500" b="0">
                <a:solidFill>
                  <a:srgbClr val="F7F8FF"/>
                </a:solidFill>
              </a:rPr>
              <a:t>Приклад: користувач ставить 5 зірок Interstellar → FastAPI приймає PUT /ratings → PostgreSQL оновлює user_ratings → рекомендації змінюються під цей смак.</a:t>
            </a:r>
          </a:p>
        </p:txBody>
      </p:sp>
    </p:spTree>
    <p:extLst>
      <p:ext uri="{BB962C8B-B14F-4D97-AF65-F5344CB8AC3E}">
        <p14:creationId xmlns:p14="http://schemas.microsoft.com/office/powerpoint/2010/main" val="2104300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204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48A170-9802-4426-AA5D-9BA0DC2B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B86790-4493-4E34-AAA6-5EC6C088B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5474A2-5ABF-4E9B-B77D-B046E8F5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D4CF"/>
                </a:solidFill>
              </a:defRPr>
            </a:pPr>
            <a:r>
              <a:rPr sz="1350" b="1">
                <a:solidFill>
                  <a:srgbClr val="66D4CF"/>
                </a:solidFill>
              </a:rPr>
              <a:t>CineMind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00A0A3-389B-4EAF-848C-F232555DF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723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7F8FF"/>
                </a:solidFill>
              </a:defRPr>
            </a:pPr>
            <a:r>
              <a:rPr sz="3000" b="1">
                <a:solidFill>
                  <a:srgbClr val="F7F8FF"/>
                </a:solidFill>
              </a:rPr>
              <a:t>Як підключалась база даних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8823B6-6845-4F1E-8F08-80B9F408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9B0C2"/>
                </a:solidFill>
              </a:defRPr>
            </a:pPr>
            <a:r>
              <a:rPr sz="1500" b="0">
                <a:solidFill>
                  <a:srgbClr val="A9B0C2"/>
                </a:solidFill>
              </a:rPr>
              <a:t>PostgreSQL запускається окремим контейнером, а FastAPI підключається до нього через змінну DATABASE_URL.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8F8710-FC23-479D-9DF2-CBB110E8C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8382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7131F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28A3E9-ADBD-4B06-8132-D4E5D1476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241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66D4CF"/>
                </a:solidFill>
              </a:defRPr>
            </a:pPr>
            <a:r>
              <a:rPr sz="1950" b="1">
                <a:solidFill>
                  <a:srgbClr val="66D4C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4425C6-0703-441F-87C0-9936638D9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4003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F"/>
                </a:solidFill>
              </a:defRPr>
            </a:pPr>
            <a:r>
              <a:rPr sz="1650" b="1">
                <a:solidFill>
                  <a:srgbClr val="F7F8FF"/>
                </a:solidFill>
              </a:rPr>
              <a:t>docker-compose.yml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67775D-E8E3-4F92-802D-0DBB2059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70510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9B0C2"/>
                </a:solidFill>
              </a:defRPr>
            </a:pPr>
            <a:r>
              <a:rPr sz="1275" b="0">
                <a:solidFill>
                  <a:srgbClr val="A9B0C2"/>
                </a:solidFill>
              </a:rPr>
              <a:t>описує контейнер PostgreSQL 16, порт 5432, користувача cinemind і базу cinemind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7AB8E7-3753-450B-B604-B4DDD9342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00400"/>
            <a:ext cx="8382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7131F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536BD6-469C-43F5-AB74-8C2C0D08E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432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66D4CF"/>
                </a:solidFill>
              </a:defRPr>
            </a:pPr>
            <a:r>
              <a:rPr sz="1950" b="1">
                <a:solidFill>
                  <a:srgbClr val="66D4CF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B180DA-F094-4AB6-AE0A-696650A2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2194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F"/>
                </a:solidFill>
              </a:defRPr>
            </a:pPr>
            <a:r>
              <a:rPr sz="1650" b="1">
                <a:solidFill>
                  <a:srgbClr val="F7F8FF"/>
                </a:solidFill>
              </a:rPr>
              <a:t>schema.sql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CFEB19-717B-4544-973F-C415DDB8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5242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9B0C2"/>
                </a:solidFill>
              </a:defRPr>
            </a:pPr>
            <a:r>
              <a:rPr sz="1275" b="0">
                <a:solidFill>
                  <a:srgbClr val="A9B0C2"/>
                </a:solidFill>
              </a:rPr>
              <a:t>створює таблиці users, movies, user_ratings, movie_comments та початковий каталог фільмів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1B50C8-9E50-447E-9370-D02AC9DB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19550"/>
            <a:ext cx="8382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7131F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5284A6-05D2-4E12-90D2-9DC1DD61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624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66D4CF"/>
                </a:solidFill>
              </a:defRPr>
            </a:pPr>
            <a:r>
              <a:rPr sz="1950" b="1">
                <a:solidFill>
                  <a:srgbClr val="66D4CF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E7323F-26B9-4781-A5AF-B5AE3996E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0386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F"/>
                </a:solidFill>
              </a:defRPr>
            </a:pPr>
            <a:r>
              <a:rPr sz="1650" b="1">
                <a:solidFill>
                  <a:srgbClr val="F7F8FF"/>
                </a:solidFill>
              </a:rPr>
              <a:t>DATABASE_URL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BEC206-9B5E-4C69-99AD-0ED2BE11A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34340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9B0C2"/>
                </a:solidFill>
              </a:defRPr>
            </a:pPr>
            <a:r>
              <a:rPr sz="1275" b="0">
                <a:solidFill>
                  <a:srgbClr val="A9B0C2"/>
                </a:solidFill>
              </a:rPr>
              <a:t>передається у FastAPI як рядок підключення до локальної PostgreSQL-бази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FB75CF-5C5A-44AA-B610-8EDF9DC4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38700"/>
            <a:ext cx="8382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7131F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FE95F6-6708-47EB-878F-055F02C0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815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66D4CF"/>
                </a:solidFill>
              </a:defRPr>
            </a:pPr>
            <a:r>
              <a:rPr sz="1950" b="1">
                <a:solidFill>
                  <a:srgbClr val="66D4CF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4B6145-DBEC-46B5-B21D-C5FB964DA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8577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F"/>
                </a:solidFill>
              </a:defRPr>
            </a:pPr>
            <a:r>
              <a:rPr sz="1650" b="1">
                <a:solidFill>
                  <a:srgbClr val="F7F8FF"/>
                </a:solidFill>
              </a:rPr>
              <a:t>backend/main.py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52EF54-DD02-4D4F-B19A-3EFDE1E5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625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9B0C2"/>
                </a:solidFill>
              </a:defRPr>
            </a:pPr>
            <a:r>
              <a:rPr sz="1275" b="0">
                <a:solidFill>
                  <a:srgbClr val="A9B0C2"/>
                </a:solidFill>
              </a:rPr>
              <a:t>через psycopg відкриває з’єднання, виконує SQL-запити і повертає дані в endpoint-и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14c4d8dfdd4dd2"/>
          <a:stretch xmlns:a="http://schemas.openxmlformats.org/drawingml/2006/main"/>
        </p:blipFill>
        <p:spPr>
          <a:xfrm xmlns:a="http://schemas.openxmlformats.org/drawingml/2006/main">
            <a:off x="8477250" y="2678906"/>
            <a:ext cx="2857500" cy="1785938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78E199-B3DD-491D-8F99-A3B265A57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9055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6D4CF"/>
                </a:solidFill>
              </a:defRPr>
            </a:pPr>
            <a:r>
              <a:rPr sz="1350" b="1">
                <a:solidFill>
                  <a:srgbClr val="66D4CF"/>
                </a:solidFill>
              </a:rPr>
              <a:t>Послідовність підключення: контейнер → SQL-таблиці → рядок підключення → FastAPI endpoint-и.</a:t>
            </a:r>
          </a:p>
        </p:txBody>
      </p:sp>
    </p:spTree>
    <p:extLst>
      <p:ext uri="{BB962C8B-B14F-4D97-AF65-F5344CB8AC3E}">
        <p14:creationId xmlns:p14="http://schemas.microsoft.com/office/powerpoint/2010/main" val="17682864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204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551CCA-E97B-422C-8285-2ACDA4CF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2F203-7C4A-4BD8-B487-1FA976C9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57951A-6A78-4613-A4AB-91A178A3B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D4CF"/>
                </a:solidFill>
              </a:defRPr>
            </a:pPr>
            <a:r>
              <a:rPr sz="1350" b="1">
                <a:solidFill>
                  <a:srgbClr val="66D4CF"/>
                </a:solidFill>
              </a:rPr>
              <a:t>CineMind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BB532E-6D4E-44F0-A76B-17409C935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723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7F8FF"/>
                </a:solidFill>
              </a:defRPr>
            </a:pPr>
            <a:r>
              <a:rPr sz="3000" b="1">
                <a:solidFill>
                  <a:srgbClr val="F7F8FF"/>
                </a:solidFill>
              </a:rPr>
              <a:t>PostgreSQL зберігає каталог і поведінку користувача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573863-E6AD-4775-BBB3-F2699DAD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9B0C2"/>
                </a:solidFill>
              </a:defRPr>
            </a:pPr>
            <a:r>
              <a:rPr sz="1500" b="0">
                <a:solidFill>
                  <a:srgbClr val="A9B0C2"/>
                </a:solidFill>
              </a:rPr>
              <a:t>База даних розділена на сутності фільмів, жанрів, акторів і користувацьких дій.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4a699032ee4bcf"/>
          <a:stretch xmlns:a="http://schemas.openxmlformats.org/drawingml/2006/main"/>
        </p:blipFill>
        <p:spPr>
          <a:xfrm xmlns:a="http://schemas.openxmlformats.org/drawingml/2006/main">
            <a:off x="685800" y="2469356"/>
            <a:ext cx="5143500" cy="3214688"/>
          </a:xfrm>
          <a:prstGeom xmlns:a="http://schemas.openxmlformats.org/drawingml/2006/main" prst="roundRect">
            <a:avLst>
              <a:gd name="adj" fmla="val 3158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A4D88B-4BB8-43E9-94AF-BAD7A74E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62200"/>
            <a:ext cx="3238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822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66E363-05E1-4F57-857A-015F4F028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288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D4CF"/>
                </a:solidFill>
              </a:defRPr>
            </a:pPr>
            <a:r>
              <a:rPr sz="1050" b="1">
                <a:solidFill>
                  <a:srgbClr val="66D4CF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9D678B-8DB4-4BF3-9887-ECFE399B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81250"/>
            <a:ext cx="430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7F8FF"/>
                </a:solidFill>
              </a:defRPr>
            </a:pPr>
            <a:r>
              <a:rPr sz="1350" b="0">
                <a:solidFill>
                  <a:srgbClr val="F7F8FF"/>
                </a:solidFill>
              </a:rPr>
              <a:t>Основні таблиці: users, movies, movie_genres, movie_actors.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997C41-DB97-4F30-812A-FC51A860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3238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822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AF33D1-7542-44EC-A5EB-839C6F20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765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D4CF"/>
                </a:solidFill>
              </a:defRPr>
            </a:pPr>
            <a:r>
              <a:rPr sz="1050" b="1">
                <a:solidFill>
                  <a:srgbClr val="66D4CF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EDA167-7A5B-4B5A-BA1F-6F8074F13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28950"/>
            <a:ext cx="430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7F8FF"/>
                </a:solidFill>
              </a:defRPr>
            </a:pPr>
            <a:r>
              <a:rPr sz="1350" b="0">
                <a:solidFill>
                  <a:srgbClr val="F7F8FF"/>
                </a:solidFill>
              </a:rPr>
              <a:t>Дії користувача: favorites, watch_later, watched_movies, user_ratings.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6970C3-51A5-468A-9A1D-69D91143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57600"/>
            <a:ext cx="3238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822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A457D3-AE80-4B27-B522-BC7E15467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242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D4CF"/>
                </a:solidFill>
              </a:defRPr>
            </a:pPr>
            <a:r>
              <a:rPr sz="1050" b="1">
                <a:solidFill>
                  <a:srgbClr val="66D4CF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790827-1ABA-43B0-8E6D-4F34442D5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76650"/>
            <a:ext cx="430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7F8FF"/>
                </a:solidFill>
              </a:defRPr>
            </a:pPr>
            <a:r>
              <a:rPr sz="1350" b="0">
                <a:solidFill>
                  <a:srgbClr val="F7F8FF"/>
                </a:solidFill>
              </a:rPr>
              <a:t>Додано movie_comments для збереження відгуків користувача до фільмів.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19AD96-467F-40C0-9345-C9BA2A8F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05300"/>
            <a:ext cx="3238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822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3E2BA5-8FC0-4EFE-B819-218DBF87E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719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D4CF"/>
                </a:solidFill>
              </a:defRPr>
            </a:pPr>
            <a:r>
              <a:rPr sz="1050" b="1">
                <a:solidFill>
                  <a:srgbClr val="66D4CF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BFFB12-A9BB-4C40-B3DA-179851B78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324350"/>
            <a:ext cx="430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7F8FF"/>
                </a:solidFill>
              </a:defRPr>
            </a:pPr>
            <a:r>
              <a:rPr sz="1350" b="0">
                <a:solidFill>
                  <a:srgbClr val="F7F8FF"/>
                </a:solidFill>
              </a:rPr>
              <a:t>Запуск через Docker Compose: PostgreSQL + змінна DATABASE_URL для FastAPI.</a:t>
            </a:r>
          </a:p>
        </p:txBody>
      </p:sp>
    </p:spTree>
    <p:extLst>
      <p:ext uri="{BB962C8B-B14F-4D97-AF65-F5344CB8AC3E}">
        <p14:creationId xmlns:p14="http://schemas.microsoft.com/office/powerpoint/2010/main" val="20368246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204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138FD9-6A60-45AE-B0C7-C5E99C962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C51824-F143-45FE-A66D-BA82EF50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BC2B63-DF64-4CA2-A443-DAE906677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D4CF"/>
                </a:solidFill>
              </a:defRPr>
            </a:pPr>
            <a:r>
              <a:rPr sz="1350" b="1">
                <a:solidFill>
                  <a:srgbClr val="66D4CF"/>
                </a:solidFill>
              </a:rPr>
              <a:t>CineMind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645981-6C81-4A23-B152-D393C478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723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7F8FF"/>
                </a:solidFill>
              </a:defRPr>
            </a:pPr>
            <a:r>
              <a:rPr sz="3000" b="1">
                <a:solidFill>
                  <a:srgbClr val="F7F8FF"/>
                </a:solidFill>
              </a:rPr>
              <a:t>FastAPI став шаром між додатком і PostgreSQL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B21022-D491-4867-B2FE-1B6AB4AFF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9B0C2"/>
                </a:solidFill>
              </a:defRPr>
            </a:pPr>
            <a:r>
              <a:rPr sz="1500" b="0">
                <a:solidFill>
                  <a:srgbClr val="A9B0C2"/>
                </a:solidFill>
              </a:rPr>
              <a:t>API приймає запити з інтерфейсу, перевіряє структуру даних через Pydantic і виконує SQL-запити.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02cd684a884186"/>
          <a:stretch xmlns:a="http://schemas.openxmlformats.org/drawingml/2006/main"/>
        </p:blipFill>
        <p:spPr>
          <a:xfrm xmlns:a="http://schemas.openxmlformats.org/drawingml/2006/main">
            <a:off x="685800" y="2416969"/>
            <a:ext cx="5219700" cy="3262313"/>
          </a:xfrm>
          <a:prstGeom xmlns:a="http://schemas.openxmlformats.org/drawingml/2006/main" prst="roundRect">
            <a:avLst>
              <a:gd name="adj" fmla="val 3243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283CB0-A8A7-40F3-9065-AC4D8E53E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05050"/>
            <a:ext cx="21336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7131F"/>
          </a:solidFill>
          <a:ln xmlns:a="http://schemas.openxmlformats.org/drawingml/2006/main" w="9525">
            <a:solidFill>
              <a:srgbClr val="0A84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6493A6-3BA7-4EE0-AD43-DAF9E76B0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479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7F8FF"/>
                </a:solidFill>
              </a:defRPr>
            </a:pPr>
            <a:r>
              <a:rPr sz="1050" b="1">
                <a:solidFill>
                  <a:srgbClr val="F7F8FF"/>
                </a:solidFill>
              </a:rPr>
              <a:t>GET /health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872FE0-272A-44D7-905F-44D302CEB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305050"/>
            <a:ext cx="21336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7131F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D392FD-6B8D-49AA-9E99-1F1DA0D28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4479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7F8FF"/>
                </a:solidFill>
              </a:defRPr>
            </a:pPr>
            <a:r>
              <a:rPr sz="1050" b="1">
                <a:solidFill>
                  <a:srgbClr val="F7F8FF"/>
                </a:solidFill>
              </a:rPr>
              <a:t>GET /movies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00B3AA-5910-4EB4-B1CF-A8763E0D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21336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7131F"/>
          </a:solidFill>
          <a:ln xmlns:a="http://schemas.openxmlformats.org/drawingml/2006/main" w="9525">
            <a:solidFill>
              <a:srgbClr val="0A84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EB7104-0571-4F4F-8676-B8A80543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5277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7F8FF"/>
                </a:solidFill>
              </a:defRPr>
            </a:pPr>
            <a:r>
              <a:rPr sz="1050" b="1">
                <a:solidFill>
                  <a:srgbClr val="F7F8FF"/>
                </a:solidFill>
              </a:rPr>
              <a:t>POST /users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CA8E87-0BFA-48F8-80DD-68C384CB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009900"/>
            <a:ext cx="21336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7131F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15BFBF-8D87-4E8E-9F97-CD3BEA69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15277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7F8FF"/>
                </a:solidFill>
              </a:defRPr>
            </a:pPr>
            <a:r>
              <a:rPr sz="1050" b="1">
                <a:solidFill>
                  <a:srgbClr val="F7F8FF"/>
                </a:solidFill>
              </a:rPr>
              <a:t>PUT /ratings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CC6A3A-509E-4B5C-8F75-5B37B118A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14750"/>
            <a:ext cx="21336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7131F"/>
          </a:solidFill>
          <a:ln xmlns:a="http://schemas.openxmlformats.org/drawingml/2006/main" w="9525">
            <a:solidFill>
              <a:srgbClr val="0A84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A67631-B4B5-4439-89C6-A998D3A2B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576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7F8FF"/>
                </a:solidFill>
              </a:defRPr>
            </a:pPr>
            <a:r>
              <a:rPr sz="1050" b="1">
                <a:solidFill>
                  <a:srgbClr val="F7F8FF"/>
                </a:solidFill>
              </a:rPr>
              <a:t>POST /comments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83A5BD-8417-4D8E-BC92-3F71D96E7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14750"/>
            <a:ext cx="21336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7131F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7EA183-65F2-4282-92E6-76B3C3EF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8576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7F8FF"/>
                </a:solidFill>
              </a:defRPr>
            </a:pPr>
            <a:r>
              <a:rPr sz="1050" b="1">
                <a:solidFill>
                  <a:srgbClr val="F7F8FF"/>
                </a:solidFill>
              </a:rPr>
              <a:t>POST /recommendations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5A4616-CA0C-4896-81B2-ECFD9C8BC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19600"/>
            <a:ext cx="21336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7131F"/>
          </a:solidFill>
          <a:ln xmlns:a="http://schemas.openxmlformats.org/drawingml/2006/main" w="9525">
            <a:solidFill>
              <a:srgbClr val="0A84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318B88-9A85-4E4D-8F07-8544761F0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6247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7F8FF"/>
                </a:solidFill>
              </a:defRPr>
            </a:pPr>
            <a:r>
              <a:rPr sz="1050" b="1">
                <a:solidFill>
                  <a:srgbClr val="F7F8FF"/>
                </a:solidFill>
              </a:rPr>
              <a:t>POST /ai/recommend</a:t>
            </a:r>
          </a:p>
        </p:txBody>
      </p:sp>
    </p:spTree>
    <p:extLst>
      <p:ext uri="{BB962C8B-B14F-4D97-AF65-F5344CB8AC3E}">
        <p14:creationId xmlns:p14="http://schemas.microsoft.com/office/powerpoint/2010/main" val="17042790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204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E4BE90-4F7E-48C1-92E4-0FB6D5F52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9BF604-9B4F-4192-9F2A-D80838365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32C79A-E5F6-414F-B1A6-A5C1AB589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D4CF"/>
                </a:solidFill>
              </a:defRPr>
            </a:pPr>
            <a:r>
              <a:rPr sz="1350" b="1">
                <a:solidFill>
                  <a:srgbClr val="66D4CF"/>
                </a:solidFill>
              </a:rPr>
              <a:t>CineMind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3B045D-D505-4CCD-91EE-A01429CB0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723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7F8FF"/>
                </a:solidFill>
              </a:defRPr>
            </a:pPr>
            <a:r>
              <a:rPr sz="3000" b="1">
                <a:solidFill>
                  <a:srgbClr val="F7F8FF"/>
                </a:solidFill>
              </a:rPr>
              <a:t>Рекомендації залежать від дій користувача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C32958-E903-4119-AB65-CA157038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9B0C2"/>
                </a:solidFill>
              </a:defRPr>
            </a:pPr>
            <a:r>
              <a:rPr sz="1500" b="0">
                <a:solidFill>
                  <a:srgbClr val="A9B0C2"/>
                </a:solidFill>
              </a:rPr>
              <a:t>Підбір фільмів враховує жанрові смаки, оцінки, переглянуті фільми і коментарі.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9fea66b2914e01"/>
          <a:srcRect xmlns:a="http://schemas.openxmlformats.org/drawingml/2006/main" l="11715" t="0" r="117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2228850"/>
            <a:ext cx="4953000" cy="3638550"/>
          </a:xfrm>
          <a:prstGeom xmlns:a="http://schemas.openxmlformats.org/drawingml/2006/main" prst="roundRect">
            <a:avLst>
              <a:gd name="adj" fmla="val 3141"/>
            </a:avLst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2aa51837224b76"/>
          <a:stretch xmlns:a="http://schemas.openxmlformats.org/drawingml/2006/main"/>
        </p:blipFill>
        <p:spPr>
          <a:xfrm xmlns:a="http://schemas.openxmlformats.org/drawingml/2006/main">
            <a:off x="7392396" y="2228850"/>
            <a:ext cx="1903007" cy="3638550"/>
          </a:xfrm>
          <a:prstGeom xmlns:a="http://schemas.openxmlformats.org/drawingml/2006/main" prst="roundRect">
            <a:avLst>
              <a:gd name="adj" fmla="val 3141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801C93-6E3A-49EA-90C5-20A2A4295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019800"/>
            <a:ext cx="952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6D4CF"/>
                </a:solidFill>
              </a:defRPr>
            </a:pPr>
            <a:r>
              <a:rPr sz="1350" b="1">
                <a:solidFill>
                  <a:srgbClr val="66D4CF"/>
                </a:solidFill>
              </a:rPr>
              <a:t>Алгоритм підбору: збіг жанрів + оцінка користувача + врахування переглянутих фільмів + коротке пояснення вибору.</a:t>
            </a:r>
          </a:p>
        </p:txBody>
      </p:sp>
    </p:spTree>
    <p:extLst>
      <p:ext uri="{BB962C8B-B14F-4D97-AF65-F5344CB8AC3E}">
        <p14:creationId xmlns:p14="http://schemas.microsoft.com/office/powerpoint/2010/main" val="6584026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204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0A57A7-4269-46E2-B803-1B6B09D8A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1DF233-1ACF-4A64-A115-69665BD5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BB26E5-BDCC-4995-9F9D-B730CD0C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D4CF"/>
                </a:solidFill>
              </a:defRPr>
            </a:pPr>
            <a:r>
              <a:rPr sz="1350" b="1">
                <a:solidFill>
                  <a:srgbClr val="66D4CF"/>
                </a:solidFill>
              </a:rPr>
              <a:t>CineMind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BFE0FF-E488-4F5F-B367-BA59BB81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723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7F8FF"/>
                </a:solidFill>
              </a:defRPr>
            </a:pPr>
            <a:r>
              <a:rPr sz="3000" b="1">
                <a:solidFill>
                  <a:srgbClr val="F7F8FF"/>
                </a:solidFill>
              </a:rPr>
              <a:t>Інтерфейс складається з кількох робочих екранів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BAA43F-CCA7-44BC-89B1-14EF9AEB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9B0C2"/>
                </a:solidFill>
              </a:defRPr>
            </a:pPr>
            <a:r>
              <a:rPr sz="1500" b="0">
                <a:solidFill>
                  <a:srgbClr val="A9B0C2"/>
                </a:solidFill>
              </a:rPr>
              <a:t>Є авторизація, вибір смаків, головна стрічка, деталі фільму, оцінки, коментарі та профіль.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897ed9ec0c492d"/>
          <a:srcRect xmlns:a="http://schemas.openxmlformats.org/drawingml/2006/main" l="7978" t="0" r="797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095500"/>
            <a:ext cx="2419350" cy="1619250"/>
          </a:xfrm>
          <a:prstGeom xmlns:a="http://schemas.openxmlformats.org/drawingml/2006/main" prst="roundRect">
            <a:avLst>
              <a:gd name="adj" fmla="val 7059"/>
            </a:avLst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de71833fae4a48"/>
          <a:srcRect xmlns:a="http://schemas.openxmlformats.org/drawingml/2006/main" l="7978" t="0" r="797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95650" y="2095500"/>
            <a:ext cx="2419350" cy="1619250"/>
          </a:xfrm>
          <a:prstGeom xmlns:a="http://schemas.openxmlformats.org/drawingml/2006/main" prst="roundRect">
            <a:avLst>
              <a:gd name="adj" fmla="val 7059"/>
            </a:avLst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f2e3481b09407a"/>
          <a:srcRect xmlns:a="http://schemas.openxmlformats.org/drawingml/2006/main" l="7978" t="0" r="797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2095500"/>
            <a:ext cx="2419350" cy="1619250"/>
          </a:xfrm>
          <a:prstGeom xmlns:a="http://schemas.openxmlformats.org/drawingml/2006/main" prst="roundRect">
            <a:avLst>
              <a:gd name="adj" fmla="val 7059"/>
            </a:avLst>
          </a:prstGeom>
        </p:spPr>
      </p:pic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a50d98801846ae"/>
          <a:srcRect xmlns:a="http://schemas.openxmlformats.org/drawingml/2006/main" l="7978" t="0" r="797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15350" y="2095500"/>
            <a:ext cx="2419350" cy="1619250"/>
          </a:xfrm>
          <a:prstGeom xmlns:a="http://schemas.openxmlformats.org/drawingml/2006/main" prst="roundRect">
            <a:avLst>
              <a:gd name="adj" fmla="val 7059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3F417B-3D49-4AED-802A-493F2746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24350"/>
            <a:ext cx="3238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822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F3FA67-AE06-46FA-87B7-2ED8C00EB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910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D4CF"/>
                </a:solidFill>
              </a:defRPr>
            </a:pPr>
            <a:r>
              <a:rPr sz="1050" b="1">
                <a:solidFill>
                  <a:srgbClr val="66D4CF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84F54A-5AD6-4841-993D-8952BCD2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343400"/>
            <a:ext cx="8877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7F8FF"/>
                </a:solidFill>
              </a:defRPr>
            </a:pPr>
            <a:r>
              <a:rPr sz="1350" b="0">
                <a:solidFill>
                  <a:srgbClr val="F7F8FF"/>
                </a:solidFill>
              </a:rPr>
              <a:t>Афіші, блок трейлера, анімації та match meter роблять каталог зрозумілішим.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90702F-1B11-4005-A8EE-4573BC24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76800"/>
            <a:ext cx="3238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822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F9B759-E7AA-461C-B5DD-526205C6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434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D4CF"/>
                </a:solidFill>
              </a:defRPr>
            </a:pPr>
            <a:r>
              <a:rPr sz="1050" b="1">
                <a:solidFill>
                  <a:srgbClr val="66D4CF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E52175-565D-43D8-B147-02868B8B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895850"/>
            <a:ext cx="8877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7F8FF"/>
                </a:solidFill>
              </a:defRPr>
            </a:pPr>
            <a:r>
              <a:rPr sz="1350" b="0">
                <a:solidFill>
                  <a:srgbClr val="F7F8FF"/>
                </a:solidFill>
              </a:rPr>
              <a:t>Оцінка зірочками зберігається у стані застосунку і впливає на підбір.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5794EE-2926-4D28-8B25-ED008AC1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29250"/>
            <a:ext cx="3238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822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33F1B0-D545-49F4-84E9-9671F836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959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D4CF"/>
                </a:solidFill>
              </a:defRPr>
            </a:pPr>
            <a:r>
              <a:rPr sz="1050" b="1">
                <a:solidFill>
                  <a:srgbClr val="66D4C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61F261-7B17-447C-BAA3-2D7067506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448300"/>
            <a:ext cx="8877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7F8FF"/>
                </a:solidFill>
              </a:defRPr>
            </a:pPr>
            <a:r>
              <a:rPr sz="1350" b="0">
                <a:solidFill>
                  <a:srgbClr val="F7F8FF"/>
                </a:solidFill>
              </a:rPr>
              <a:t>Профіль можна редагувати: ім’я, фото за URL та опис свого смаку.</a:t>
            </a:r>
          </a:p>
        </p:txBody>
      </p:sp>
    </p:spTree>
    <p:extLst>
      <p:ext uri="{BB962C8B-B14F-4D97-AF65-F5344CB8AC3E}">
        <p14:creationId xmlns:p14="http://schemas.microsoft.com/office/powerpoint/2010/main" val="26344079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204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593689-7798-4286-AD57-1F23380B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B910E4-413E-4C9C-AD8C-9C76EEBB0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2D5036-4207-46E5-A1CE-973D44CD5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D4CF"/>
                </a:solidFill>
              </a:defRPr>
            </a:pPr>
            <a:r>
              <a:rPr sz="1350" b="1">
                <a:solidFill>
                  <a:srgbClr val="66D4CF"/>
                </a:solidFill>
              </a:rPr>
              <a:t>CineMind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E197CD-BFEB-4C7A-B9A0-B76BE4251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723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7F8FF"/>
                </a:solidFill>
              </a:defRPr>
            </a:pPr>
            <a:r>
              <a:rPr sz="3000" b="1">
                <a:solidFill>
                  <a:srgbClr val="F7F8FF"/>
                </a:solidFill>
              </a:rPr>
              <a:t>Код розділений за відповідальністю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82433C-FAED-4C97-A0F9-F6DCBBB9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9B0C2"/>
                </a:solidFill>
              </a:defRPr>
            </a:pPr>
            <a:r>
              <a:rPr sz="1500" b="0">
                <a:solidFill>
                  <a:srgbClr val="A9B0C2"/>
                </a:solidFill>
              </a:rPr>
              <a:t>Flutter відповідає за UX, FastAPI за HTTP-логіку, PostgreSQL за структуроване збереження даних.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f438511036449f"/>
          <a:stretch xmlns:a="http://schemas.openxmlformats.org/drawingml/2006/main"/>
        </p:blipFill>
        <p:spPr>
          <a:xfrm xmlns:a="http://schemas.openxmlformats.org/drawingml/2006/main">
            <a:off x="1389295" y="2247900"/>
            <a:ext cx="1793410" cy="3429000"/>
          </a:xfrm>
          <a:prstGeom xmlns:a="http://schemas.openxmlformats.org/drawingml/2006/main" prst="roundRect">
            <a:avLst>
              <a:gd name="adj" fmla="val 3333"/>
            </a:avLst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74a20f46634663"/>
          <a:stretch xmlns:a="http://schemas.openxmlformats.org/drawingml/2006/main"/>
        </p:blipFill>
        <p:spPr>
          <a:xfrm xmlns:a="http://schemas.openxmlformats.org/drawingml/2006/main">
            <a:off x="4381500" y="2890838"/>
            <a:ext cx="3429000" cy="2143125"/>
          </a:xfrm>
          <a:prstGeom xmlns:a="http://schemas.openxmlformats.org/drawingml/2006/main" prst="roundRect">
            <a:avLst>
              <a:gd name="adj" fmla="val 3333"/>
            </a:avLst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d7e5cce0c24ea4"/>
          <a:stretch xmlns:a="http://schemas.openxmlformats.org/drawingml/2006/main"/>
        </p:blipFill>
        <p:spPr>
          <a:xfrm xmlns:a="http://schemas.openxmlformats.org/drawingml/2006/main">
            <a:off x="8191500" y="2890838"/>
            <a:ext cx="3429000" cy="2143125"/>
          </a:xfrm>
          <a:prstGeom xmlns:a="http://schemas.openxmlformats.org/drawingml/2006/main" prst="roundRect">
            <a:avLst>
              <a:gd name="adj" fmla="val 3333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F9E45F-0417-455A-9A23-63C870E1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483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A84FF"/>
                </a:solidFill>
              </a:defRPr>
            </a:pPr>
            <a:r>
              <a:rPr sz="1350" b="1">
                <a:solidFill>
                  <a:srgbClr val="0A84FF"/>
                </a:solidFill>
              </a:rPr>
              <a:t>Flutter logic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E3554F-BE35-495A-9560-67F7E2840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8483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6D4CF"/>
                </a:solidFill>
              </a:defRPr>
            </a:pPr>
            <a:r>
              <a:rPr sz="1350" b="1">
                <a:solidFill>
                  <a:srgbClr val="66D4CF"/>
                </a:solidFill>
              </a:rPr>
              <a:t>VS Code: FastAPI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774D94-BE71-456F-BE6B-7D667E9CB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8483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0D158"/>
                </a:solidFill>
              </a:defRPr>
            </a:pPr>
            <a:r>
              <a:rPr sz="1350" b="1">
                <a:solidFill>
                  <a:srgbClr val="30D158"/>
                </a:solidFill>
              </a:rPr>
              <a:t>VS Code: PostgreSQL</a:t>
            </a:r>
          </a:p>
        </p:txBody>
      </p:sp>
    </p:spTree>
    <p:extLst>
      <p:ext uri="{BB962C8B-B14F-4D97-AF65-F5344CB8AC3E}">
        <p14:creationId xmlns:p14="http://schemas.microsoft.com/office/powerpoint/2010/main" val="9620764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204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9D7020-F70C-49EC-A9AE-5CB58223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22FDF1-DBE3-4D6C-89AD-8D3391230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C4BE93-C1A2-4937-A9A3-97BA6DDDA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D4CF"/>
                </a:solidFill>
              </a:defRPr>
            </a:pPr>
            <a:r>
              <a:rPr sz="1350" b="1">
                <a:solidFill>
                  <a:srgbClr val="66D4CF"/>
                </a:solidFill>
              </a:rPr>
              <a:t>CineMind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A46A79-6E54-4487-91FD-1E41594E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723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7F8FF"/>
                </a:solidFill>
              </a:defRPr>
            </a:pPr>
            <a:r>
              <a:rPr sz="3000" b="1">
                <a:solidFill>
                  <a:srgbClr val="F7F8FF"/>
                </a:solidFill>
              </a:rPr>
              <a:t>Проєкт перевірено перед захистом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96811E-7F7C-406E-8807-30D43317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9B0C2"/>
                </a:solidFill>
              </a:defRPr>
            </a:pPr>
            <a:r>
              <a:rPr sz="1500" b="0">
                <a:solidFill>
                  <a:srgbClr val="A9B0C2"/>
                </a:solidFill>
              </a:rPr>
              <a:t>Перевірка потрібна, щоб показати, що зміни не залишились тільки на рівні макета.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7826BA-EB55-47A2-A157-AF63A5B4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24765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71A23"/>
          </a:solidFill>
          <a:ln xmlns:a="http://schemas.openxmlformats.org/drawingml/2006/main" w="9525">
            <a:solidFill>
              <a:srgbClr val="30D15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F0E8B1-4358-4D9A-B036-A5A30B2E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24150"/>
            <a:ext cx="2171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0D158"/>
                </a:solidFill>
              </a:defRPr>
            </a:pPr>
            <a:r>
              <a:rPr sz="2250" b="1">
                <a:solidFill>
                  <a:srgbClr val="30D158"/>
                </a:solidFill>
              </a:rPr>
              <a:t>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8CB735-8BC0-4E8E-9823-16119866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217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0C2"/>
                </a:solidFill>
              </a:defRPr>
            </a:pPr>
            <a:r>
              <a:rPr sz="1125" b="0">
                <a:solidFill>
                  <a:srgbClr val="A9B0C2"/>
                </a:solidFill>
              </a:rPr>
              <a:t>помилок аналізу Flutter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425231-DA00-43F1-A33D-FE179CD90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71750"/>
            <a:ext cx="24765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71A23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D94EBF-95C2-43DE-8162-BA8CD8430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724150"/>
            <a:ext cx="2171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6D4CF"/>
                </a:solidFill>
              </a:defRPr>
            </a:pPr>
            <a:r>
              <a:rPr sz="2250" b="1">
                <a:solidFill>
                  <a:srgbClr val="66D4CF"/>
                </a:solidFill>
              </a:rPr>
              <a:t>1/1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41AFF3-A789-43A6-8FE7-89D6B04A2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124200"/>
            <a:ext cx="217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0C2"/>
                </a:solidFill>
              </a:defRPr>
            </a:pPr>
            <a:r>
              <a:rPr sz="1125" b="0">
                <a:solidFill>
                  <a:srgbClr val="A9B0C2"/>
                </a:solidFill>
              </a:rPr>
              <a:t>тест пройшов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91FACA-9F2F-4E72-A4C3-A16F02F8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71750"/>
            <a:ext cx="24765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71A23"/>
          </a:solidFill>
          <a:ln xmlns:a="http://schemas.openxmlformats.org/drawingml/2006/main" w="9525">
            <a:solidFill>
              <a:srgbClr val="0A84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CDF4E7-257B-4E53-985E-D95C243A6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724150"/>
            <a:ext cx="2171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A84FF"/>
                </a:solidFill>
              </a:defRPr>
            </a:pPr>
            <a:r>
              <a:rPr sz="2250" b="1">
                <a:solidFill>
                  <a:srgbClr val="0A84FF"/>
                </a:solidFill>
              </a:rPr>
              <a:t>OK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3B5BE-FFDA-4FDA-92B1-67A1C131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124200"/>
            <a:ext cx="217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9B0C2"/>
                </a:solidFill>
              </a:defRPr>
            </a:pPr>
            <a:r>
              <a:rPr sz="1125" b="0">
                <a:solidFill>
                  <a:srgbClr val="A9B0C2"/>
                </a:solidFill>
              </a:rPr>
              <a:t>backend py_compile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C332AF-DF17-4459-A31A-05B55ABA4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91000"/>
            <a:ext cx="3238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822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48A077-6344-4618-9773-88A6B3511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576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D4CF"/>
                </a:solidFill>
              </a:defRPr>
            </a:pPr>
            <a:r>
              <a:rPr sz="1050" b="1">
                <a:solidFill>
                  <a:srgbClr val="66D4C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2F14BB-0A91-4C56-A3D7-4205002C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10050"/>
            <a:ext cx="9163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7F8FF"/>
                </a:solidFill>
              </a:defRPr>
            </a:pPr>
            <a:r>
              <a:rPr sz="1350" b="0">
                <a:solidFill>
                  <a:srgbClr val="F7F8FF"/>
                </a:solidFill>
              </a:rPr>
              <a:t>flutter analyze перевірив Dart-код і не знайшов помилок.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7DA253-5723-4281-AD09-918C2C20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67250"/>
            <a:ext cx="3238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822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453A11-27E7-4762-B722-E86FFC6F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339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D4CF"/>
                </a:solidFill>
              </a:defRPr>
            </a:pPr>
            <a:r>
              <a:rPr sz="1050" b="1">
                <a:solidFill>
                  <a:srgbClr val="66D4CF"/>
                </a:solidFill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206A61-8EF5-46FA-90B0-1431516E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686300"/>
            <a:ext cx="9163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7F8FF"/>
                </a:solidFill>
              </a:defRPr>
            </a:pPr>
            <a:r>
              <a:rPr sz="1350" b="0">
                <a:solidFill>
                  <a:srgbClr val="F7F8FF"/>
                </a:solidFill>
              </a:rPr>
              <a:t>flutter test запустив базовий widget-тест для стартового екрана.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465C21-59A5-422B-BC35-53FD2C4A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43500"/>
            <a:ext cx="3238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822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40E816-A758-4DBF-B3E5-C31CF394D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101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D4CF"/>
                </a:solidFill>
              </a:defRPr>
            </a:pPr>
            <a:r>
              <a:rPr sz="1050" b="1">
                <a:solidFill>
                  <a:srgbClr val="66D4CF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188680-6654-4252-863A-7BCC7E410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162550"/>
            <a:ext cx="9163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7F8FF"/>
                </a:solidFill>
              </a:defRPr>
            </a:pPr>
            <a:r>
              <a:rPr sz="1350" b="0">
                <a:solidFill>
                  <a:srgbClr val="F7F8FF"/>
                </a:solidFill>
              </a:rPr>
              <a:t>python -m py_compile backend/main.py перевірив синтаксис FastAPI backend.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266467-D550-4892-824A-79467DAC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619750"/>
            <a:ext cx="3238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822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63F02E-BD24-4589-9469-107CCA77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6864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D4CF"/>
                </a:solidFill>
              </a:defRPr>
            </a:pPr>
            <a:r>
              <a:rPr sz="1050" b="1">
                <a:solidFill>
                  <a:srgbClr val="66D4CF"/>
                </a:solidFill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EB6895-35D9-4E14-9281-270B04ED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638800"/>
            <a:ext cx="9163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7F8FF"/>
                </a:solidFill>
              </a:defRPr>
            </a:pPr>
            <a:r>
              <a:rPr sz="1350" b="0">
                <a:solidFill>
                  <a:srgbClr val="F7F8FF"/>
                </a:solidFill>
              </a:rPr>
              <a:t>Окремо підготовлено скріни інтерфейсу, FastAPI Swagger UI, PostgreSQL Query Tool і VS Code.</a:t>
            </a:r>
          </a:p>
        </p:txBody>
      </p:sp>
    </p:spTree>
    <p:extLst>
      <p:ext uri="{BB962C8B-B14F-4D97-AF65-F5344CB8AC3E}">
        <p14:creationId xmlns:p14="http://schemas.microsoft.com/office/powerpoint/2010/main" val="1425283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204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5AE337-0374-4D37-820B-12C93399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1C3525-F7C8-4788-97B8-CBF0F55CE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BD00AC-FD6C-4569-ACD7-24CCCEE82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D4CF"/>
                </a:solidFill>
              </a:defRPr>
            </a:pPr>
            <a:r>
              <a:rPr sz="1350" b="1">
                <a:solidFill>
                  <a:srgbClr val="66D4CF"/>
                </a:solidFill>
              </a:rPr>
              <a:t>CineMind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627C40-87D5-4242-8666-C0777917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723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7F8FF"/>
                </a:solidFill>
              </a:defRPr>
            </a:pPr>
            <a:r>
              <a:rPr sz="3000" b="1">
                <a:solidFill>
                  <a:srgbClr val="F7F8FF"/>
                </a:solidFill>
              </a:rPr>
              <a:t>Що показати на захисті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388819-F9EC-4AE3-8435-19D37226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9B0C2"/>
                </a:solidFill>
              </a:defRPr>
            </a:pPr>
            <a:r>
              <a:rPr sz="1500" b="0">
                <a:solidFill>
                  <a:srgbClr val="A9B0C2"/>
                </a:solidFill>
              </a:rPr>
              <a:t>Демонстрацію можна провести по кроках: інтерфейс, оцінки, коментарі, backend і база даних.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EFEF9C-7B04-49C5-AAA6-498558671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76500"/>
            <a:ext cx="3238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822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2171C1-2FB2-427B-8D59-C1C9D9F4C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431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D4CF"/>
                </a:solidFill>
              </a:defRPr>
            </a:pPr>
            <a:r>
              <a:rPr sz="1050" b="1">
                <a:solidFill>
                  <a:srgbClr val="66D4C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5E1BFB-7B1F-4506-9E43-C2662A83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495550"/>
            <a:ext cx="8401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7F8FF"/>
                </a:solidFill>
              </a:defRPr>
            </a:pPr>
            <a:r>
              <a:rPr sz="1350" b="0">
                <a:solidFill>
                  <a:srgbClr val="F7F8FF"/>
                </a:solidFill>
              </a:rPr>
              <a:t>Показати авторизацію, вибір смаків, головну стрічку й деталі фільму.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F5DB2B-86D2-4849-A8B5-37B148749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3238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822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E4E4E3-3F88-46A2-9AB4-94D3C9AC5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908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D4CF"/>
                </a:solidFill>
              </a:defRPr>
            </a:pPr>
            <a:r>
              <a:rPr sz="1050" b="1">
                <a:solidFill>
                  <a:srgbClr val="66D4CF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938A03-0C8A-4CB1-BB6D-DC89783E0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143250"/>
            <a:ext cx="8401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7F8FF"/>
                </a:solidFill>
              </a:defRPr>
            </a:pPr>
            <a:r>
              <a:rPr sz="1350" b="0">
                <a:solidFill>
                  <a:srgbClr val="F7F8FF"/>
                </a:solidFill>
              </a:rPr>
              <a:t>Поставити оцінку, додати коментар і показати, що ці дані впливають на рекомендації.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01F8A8-A1FF-4CB3-9044-5D1DA051D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71900"/>
            <a:ext cx="3238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822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C7173E-A095-4E49-A395-7D4A8181F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385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D4CF"/>
                </a:solidFill>
              </a:defRPr>
            </a:pPr>
            <a:r>
              <a:rPr sz="1050" b="1">
                <a:solidFill>
                  <a:srgbClr val="66D4CF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7FBA0E-66BC-4388-8ED1-791173B7C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790950"/>
            <a:ext cx="8401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7F8FF"/>
                </a:solidFill>
              </a:defRPr>
            </a:pPr>
            <a:r>
              <a:rPr sz="1350" b="0">
                <a:solidFill>
                  <a:srgbClr val="F7F8FF"/>
                </a:solidFill>
              </a:rPr>
              <a:t>Відкрити вкладку “Система” та пояснити Flutter → FastAPI → PostgreSQL → підбір фільмів.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08193B-F299-4D77-9B7A-0ACEA29B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19600"/>
            <a:ext cx="3238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822"/>
          </a:solidFill>
          <a:ln xmlns:a="http://schemas.openxmlformats.org/drawingml/2006/main" w="9525">
            <a:solidFill>
              <a:srgbClr val="66D4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31D45B-2992-4672-991C-3D7C16A98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862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D4CF"/>
                </a:solidFill>
              </a:defRPr>
            </a:pPr>
            <a:r>
              <a:rPr sz="1050" b="1">
                <a:solidFill>
                  <a:srgbClr val="66D4CF"/>
                </a:solidFill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C17AD6-CB24-49F0-A8FC-E78C07455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438650"/>
            <a:ext cx="8401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7F8FF"/>
                </a:solidFill>
              </a:defRPr>
            </a:pPr>
            <a:r>
              <a:rPr sz="1350" b="0">
                <a:solidFill>
                  <a:srgbClr val="F7F8FF"/>
                </a:solidFill>
              </a:rPr>
              <a:t>Показати backend/main.py і schema.sql як доказ підключення бази даних.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DFE7D0-98E1-419F-979C-C1AC1D1D0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912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6D4CF"/>
                </a:solidFill>
              </a:defRPr>
            </a:pPr>
            <a:r>
              <a:rPr sz="1500" b="1">
                <a:solidFill>
                  <a:srgbClr val="66D4CF"/>
                </a:solidFill>
              </a:rPr>
              <a:t>GitHub: github.com/Vanil-CEO/CineMind-movie-ai</a:t>
            </a:r>
          </a:p>
        </p:txBody>
      </p:sp>
    </p:spTree>
    <p:extLst>
      <p:ext uri="{BB962C8B-B14F-4D97-AF65-F5344CB8AC3E}">
        <p14:creationId xmlns:p14="http://schemas.microsoft.com/office/powerpoint/2010/main" val="11453030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2026-07-16T20:59:18.4160000Z</dcterms:created>
  <dcterms:modified xsi:type="dcterms:W3CDTF">2026-07-16T20:59:18.4170000Z</dcterms:modified>
</coreProperties>
</file>