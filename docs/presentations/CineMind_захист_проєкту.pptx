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6e7189e33842d1" /><Relationship Type="http://schemas.openxmlformats.org/officeDocument/2006/relationships/extended-properties" Target="/docProps/app.xml" Id="Ref9779e254f44613" /><Relationship Type="http://schemas.openxmlformats.org/officeDocument/2006/relationships/officeDocument" Target="/ppt/presentation.xml" Id="R50425c6ad77e48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48a7bc0eb84df4"/>
  </p:sldMasterIdLst>
  <p:notesMasterIdLst>
    <p:notesMasterId xmlns:r="http://schemas.openxmlformats.org/officeDocument/2006/relationships" r:id="Rd16404bff6934994"/>
  </p:notesMasterIdLst>
  <p:sldIdLst>
    <p:sldId xmlns:r="http://schemas.openxmlformats.org/officeDocument/2006/relationships" id="256" r:id="Rc0f85b1b0cae49d9"/>
    <p:sldId xmlns:r="http://schemas.openxmlformats.org/officeDocument/2006/relationships" id="257" r:id="R637516ef183840a0"/>
    <p:sldId xmlns:r="http://schemas.openxmlformats.org/officeDocument/2006/relationships" id="258" r:id="Ra5194b6b25c140e3"/>
    <p:sldId xmlns:r="http://schemas.openxmlformats.org/officeDocument/2006/relationships" id="259" r:id="Radd63a91c84e4117"/>
    <p:sldId xmlns:r="http://schemas.openxmlformats.org/officeDocument/2006/relationships" id="260" r:id="R527dd183f12a4944"/>
    <p:sldId xmlns:r="http://schemas.openxmlformats.org/officeDocument/2006/relationships" id="261" r:id="R45e6a9f74a574189"/>
    <p:sldId xmlns:r="http://schemas.openxmlformats.org/officeDocument/2006/relationships" id="262" r:id="R4dff47bf97fa4408"/>
    <p:sldId xmlns:r="http://schemas.openxmlformats.org/officeDocument/2006/relationships" id="263" r:id="Rfa84634a4bdf49e9"/>
    <p:sldId xmlns:r="http://schemas.openxmlformats.org/officeDocument/2006/relationships" id="264" r:id="Ra8b42b26da9d44d9"/>
    <p:sldId xmlns:r="http://schemas.openxmlformats.org/officeDocument/2006/relationships" id="265" r:id="R3e874afd1cf04e8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cfae9be38664e6b" /><Relationship Type="http://schemas.openxmlformats.org/officeDocument/2006/relationships/slideMaster" Target="/ppt/slideMasters/slideMaster1.xml" Id="R2148a7bc0eb84df4" /><Relationship Type="http://schemas.openxmlformats.org/officeDocument/2006/relationships/notesMaster" Target="/ppt/notesMasters/notesMaster1.xml" Id="Rd16404bff6934994" /><Relationship Type="http://schemas.openxmlformats.org/officeDocument/2006/relationships/presProps" Target="/ppt/presProps.xml" Id="Ra9ae937b543b426a" /><Relationship Type="http://schemas.openxmlformats.org/officeDocument/2006/relationships/tableStyles" Target="/ppt/tableStyles.xml" Id="Ra3d8dd65d4dc483a" /><Relationship Type="http://schemas.openxmlformats.org/officeDocument/2006/relationships/slide" Target="/ppt/slides/slide1.xml" Id="Rc0f85b1b0cae49d9" /><Relationship Type="http://schemas.openxmlformats.org/officeDocument/2006/relationships/slide" Target="/ppt/slides/slide2.xml" Id="R637516ef183840a0" /><Relationship Type="http://schemas.openxmlformats.org/officeDocument/2006/relationships/slide" Target="/ppt/slides/slide3.xml" Id="Ra5194b6b25c140e3" /><Relationship Type="http://schemas.openxmlformats.org/officeDocument/2006/relationships/slide" Target="/ppt/slides/slide4.xml" Id="Radd63a91c84e4117" /><Relationship Type="http://schemas.openxmlformats.org/officeDocument/2006/relationships/slide" Target="/ppt/slides/slide5.xml" Id="R527dd183f12a4944" /><Relationship Type="http://schemas.openxmlformats.org/officeDocument/2006/relationships/slide" Target="/ppt/slides/slide6.xml" Id="R45e6a9f74a574189" /><Relationship Type="http://schemas.openxmlformats.org/officeDocument/2006/relationships/slide" Target="/ppt/slides/slide7.xml" Id="R4dff47bf97fa4408" /><Relationship Type="http://schemas.openxmlformats.org/officeDocument/2006/relationships/slide" Target="/ppt/slides/slide8.xml" Id="Rfa84634a4bdf49e9" /><Relationship Type="http://schemas.openxmlformats.org/officeDocument/2006/relationships/slide" Target="/ppt/slides/slide9.xml" Id="Ra8b42b26da9d44d9" /><Relationship Type="http://schemas.openxmlformats.org/officeDocument/2006/relationships/slide" Target="/ppt/slides/slide10.xml" Id="R3e874afd1cf04e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b7f637609241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c77e2201164109" /><Relationship Type="http://schemas.openxmlformats.org/officeDocument/2006/relationships/notesMaster" Target="/ppt/notesMasters/notesMaster1.xml" Id="R4deb3cf415cb4ef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d3c1ccf28a244c4" /><Relationship Type="http://schemas.openxmlformats.org/officeDocument/2006/relationships/notesMaster" Target="/ppt/notesMasters/notesMaster1.xml" Id="R09ba25dc9bcc49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64c16d638b74e49" /><Relationship Type="http://schemas.openxmlformats.org/officeDocument/2006/relationships/notesMaster" Target="/ppt/notesMasters/notesMaster1.xml" Id="Rabc1e4460cff43c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8532b07f7134c3f" /><Relationship Type="http://schemas.openxmlformats.org/officeDocument/2006/relationships/notesMaster" Target="/ppt/notesMasters/notesMaster1.xml" Id="R5bb6f5df4aaf4d8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fce481a05ea4da2" /><Relationship Type="http://schemas.openxmlformats.org/officeDocument/2006/relationships/notesMaster" Target="/ppt/notesMasters/notesMaster1.xml" Id="R0ae577ebad9b473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7ec9751da9e4d1a" /><Relationship Type="http://schemas.openxmlformats.org/officeDocument/2006/relationships/notesMaster" Target="/ppt/notesMasters/notesMaster1.xml" Id="Rc82aa5ae0b4d4e0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b8e449a417541fe" /><Relationship Type="http://schemas.openxmlformats.org/officeDocument/2006/relationships/notesMaster" Target="/ppt/notesMasters/notesMaster1.xml" Id="R7911582d3f1c463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47a44ccad5f4e66" /><Relationship Type="http://schemas.openxmlformats.org/officeDocument/2006/relationships/notesMaster" Target="/ppt/notesMasters/notesMaster1.xml" Id="Rcd0b07e97bc44fa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24cb02f6ad64e78" /><Relationship Type="http://schemas.openxmlformats.org/officeDocument/2006/relationships/notesMaster" Target="/ppt/notesMasters/notesMaster1.xml" Id="R87fef07e167e4ef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55e8d42f5214acd" /><Relationship Type="http://schemas.openxmlformats.org/officeDocument/2006/relationships/notesMaster" Target="/ppt/notesMasters/notesMaster1.xml" Id="R14cdc892140c47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f5025267e44c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65da6c55f14c08" /><Relationship Type="http://schemas.openxmlformats.org/officeDocument/2006/relationships/slideLayout" Target="/ppt/slideLayouts/slideLayout1.xml" Id="R8485d356967147c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85d356967147c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7c7cc575304d3d" /><Relationship Type="http://schemas.openxmlformats.org/officeDocument/2006/relationships/image" Target="/ppt/media/image.jpeg" Id="R0b1f2c6ef80d4955" /><Relationship Type="http://schemas.openxmlformats.org/officeDocument/2006/relationships/notesSlide" Target="/ppt/notesSlides/notesSlide1.xml" Id="R78e93641a91f4a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2287e37322400b" /><Relationship Type="http://schemas.openxmlformats.org/officeDocument/2006/relationships/notesSlide" Target="/ppt/notesSlides/notesSlide2.xml" Id="R5c247e3cdf284f5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252b0d8aa54006" /><Relationship Type="http://schemas.openxmlformats.org/officeDocument/2006/relationships/notesSlide" Target="/ppt/notesSlides/notesSlide3.xml" Id="R882423f485154e6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26f46040cc4c93" /><Relationship Type="http://schemas.openxmlformats.org/officeDocument/2006/relationships/image" Target="/ppt/media/image.png" Id="R3594e646012e4c0b" /><Relationship Type="http://schemas.openxmlformats.org/officeDocument/2006/relationships/notesSlide" Target="/ppt/notesSlides/notesSlide4.xml" Id="Rbed7562b3d2f4f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113038fc9f4f58" /><Relationship Type="http://schemas.openxmlformats.org/officeDocument/2006/relationships/image" Target="/ppt/media/image2.png" Id="Rd8555277487e41af" /><Relationship Type="http://schemas.openxmlformats.org/officeDocument/2006/relationships/notesSlide" Target="/ppt/notesSlides/notesSlide5.xml" Id="Re2667d58b8dc44b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e5ea1085a44d58" /><Relationship Type="http://schemas.openxmlformats.org/officeDocument/2006/relationships/image" Target="/ppt/media/image2.jpeg" Id="Rff16080b756e4708" /><Relationship Type="http://schemas.openxmlformats.org/officeDocument/2006/relationships/image" Target="/ppt/media/image3.png" Id="Rcdabddadf5154770" /><Relationship Type="http://schemas.openxmlformats.org/officeDocument/2006/relationships/notesSlide" Target="/ppt/notesSlides/notesSlide6.xml" Id="R80a5004981b9465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79d97d5a0f437d" /><Relationship Type="http://schemas.openxmlformats.org/officeDocument/2006/relationships/image" Target="/ppt/media/image3.jpeg" Id="R349faddf3736419b" /><Relationship Type="http://schemas.openxmlformats.org/officeDocument/2006/relationships/image" Target="/ppt/media/image4.jpeg" Id="R4d968ea776c64340" /><Relationship Type="http://schemas.openxmlformats.org/officeDocument/2006/relationships/image" Target="/ppt/media/image5.jpeg" Id="Rf2cf3b55fa234898" /><Relationship Type="http://schemas.openxmlformats.org/officeDocument/2006/relationships/image" Target="/ppt/media/image6.jpeg" Id="R1d003a3b54344fc9" /><Relationship Type="http://schemas.openxmlformats.org/officeDocument/2006/relationships/notesSlide" Target="/ppt/notesSlides/notesSlide7.xml" Id="R71e500f3383d4a2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1903e89d324ceb" /><Relationship Type="http://schemas.openxmlformats.org/officeDocument/2006/relationships/image" Target="/ppt/media/image4.png" Id="Reff6f0eb5ceb4a76" /><Relationship Type="http://schemas.openxmlformats.org/officeDocument/2006/relationships/image" Target="/ppt/media/image5.png" Id="Rcb93699c0bf44a19" /><Relationship Type="http://schemas.openxmlformats.org/officeDocument/2006/relationships/image" Target="/ppt/media/image6.png" Id="R2523af84cddb415c" /><Relationship Type="http://schemas.openxmlformats.org/officeDocument/2006/relationships/notesSlide" Target="/ppt/notesSlides/notesSlide8.xml" Id="R41260d5c60414a3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0b6f8aa7c74415" /><Relationship Type="http://schemas.openxmlformats.org/officeDocument/2006/relationships/notesSlide" Target="/ppt/notesSlides/notesSlide9.xml" Id="Rfba397a44b67452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668aa0a25944ad" /><Relationship Type="http://schemas.openxmlformats.org/officeDocument/2006/relationships/notesSlide" Target="/ppt/notesSlides/notesSlide10.xml" Id="R8e7385eb3b4e4bf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204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BEE62F-32DE-4984-A0EB-FD2E8525A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54CAE9-A568-4526-98EB-F97EB020C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182268-B0EB-4B3F-9643-A2B09CA1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7F8FF"/>
                </a:solidFill>
              </a:defRPr>
            </a:pPr>
            <a:r>
              <a:rPr sz="4350" b="1">
                <a:solidFill>
                  <a:srgbClr val="F7F8FF"/>
                </a:solidFill>
              </a:rPr>
              <a:t>CineMind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1C7371-96A1-4E53-B000-2311F127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38300"/>
            <a:ext cx="647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A9B0C2"/>
                </a:solidFill>
              </a:defRPr>
            </a:pPr>
            <a:r>
              <a:rPr sz="1950" b="0">
                <a:solidFill>
                  <a:srgbClr val="A9B0C2"/>
                </a:solidFill>
              </a:rPr>
              <a:t>Мобільний застосунок для персональних рекомендацій фільмів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5DFF56-A712-4C88-9C30-9D8CEF442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10477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A84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ECEA85-83F9-4060-8D68-D121B6557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032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A84FF"/>
                </a:solidFill>
              </a:defRPr>
            </a:pPr>
            <a:r>
              <a:rPr sz="1050" b="1">
                <a:solidFill>
                  <a:srgbClr val="0A84FF"/>
                </a:solidFill>
              </a:rPr>
              <a:t>Flutter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2B7378-CB88-4D1E-B858-68A748C93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533650"/>
            <a:ext cx="10477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66D4C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6694B3-ED58-45F6-8EF7-5C773C784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60032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D4CF"/>
                </a:solidFill>
              </a:defRPr>
            </a:pPr>
            <a:r>
              <a:rPr sz="1050" b="1">
                <a:solidFill>
                  <a:srgbClr val="66D4CF"/>
                </a:solidFill>
              </a:rPr>
              <a:t>FastAPI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FC270B-564D-414F-9285-1628CAB81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33650"/>
            <a:ext cx="13525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30D1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207885-C3EF-4E33-96C9-F0C636641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600325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0D158"/>
                </a:solidFill>
              </a:defRPr>
            </a:pPr>
            <a:r>
              <a:rPr sz="1050" b="1">
                <a:solidFill>
                  <a:srgbClr val="30D158"/>
                </a:solidFill>
              </a:rPr>
              <a:t>PostgreSQL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D152FD-F2EF-4648-A5FD-2E722C73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33650"/>
            <a:ext cx="1123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BF5A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39C3A2-51E7-4F78-865F-041FA48F8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00325"/>
            <a:ext cx="895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F5AF2"/>
                </a:solidFill>
              </a:defRPr>
            </a:pPr>
            <a:r>
              <a:rPr sz="1050" b="1">
                <a:solidFill>
                  <a:srgbClr val="BF5AF2"/>
                </a:solidFill>
              </a:rPr>
              <a:t>AI-сервіс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1f2c6ef80d4955"/>
          <a:stretch xmlns:a="http://schemas.openxmlformats.org/drawingml/2006/main"/>
        </p:blipFill>
        <p:spPr>
          <a:xfrm xmlns:a="http://schemas.openxmlformats.org/drawingml/2006/main">
            <a:off x="7239000" y="2202656"/>
            <a:ext cx="3886200" cy="2185988"/>
          </a:xfrm>
          <a:prstGeom xmlns:a="http://schemas.openxmlformats.org/drawingml/2006/main" prst="roundRect">
            <a:avLst>
              <a:gd name="adj" fmla="val 2941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BFB992-1794-428A-8B98-9DE02ADA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721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D4CF"/>
                </a:solidFill>
              </a:defRPr>
            </a:pPr>
            <a:r>
              <a:rPr sz="1350" b="1">
                <a:solidFill>
                  <a:srgbClr val="66D4CF"/>
                </a:solidFill>
              </a:rPr>
              <a:t>Захист проєкту · тиждень 5</a:t>
            </a:r>
          </a:p>
        </p:txBody>
      </p:sp>
    </p:spTree>
    <p:extLst>
      <p:ext uri="{BB962C8B-B14F-4D97-AF65-F5344CB8AC3E}">
        <p14:creationId xmlns:p14="http://schemas.microsoft.com/office/powerpoint/2010/main" val="14457960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204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2619F2-D25A-4B4E-AF4B-EA936D4A2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5B8FB6-DDF0-4D83-9B98-B43E3B568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4D20FF-CFE5-4506-9B92-9F5219314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D4CF"/>
                </a:solidFill>
              </a:defRPr>
            </a:pPr>
            <a:r>
              <a:rPr sz="1350" b="1">
                <a:solidFill>
                  <a:srgbClr val="66D4CF"/>
                </a:solidFill>
              </a:rPr>
              <a:t>CineMind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2865E8-8129-4669-8420-BA737B8F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7F8FF"/>
                </a:solidFill>
              </a:defRPr>
            </a:pPr>
            <a:r>
              <a:rPr sz="3000" b="1">
                <a:solidFill>
                  <a:srgbClr val="F7F8FF"/>
                </a:solidFill>
              </a:rPr>
              <a:t>Ідея проєкту: персональні рекомендації фільмів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1DBAC6-D2C2-4726-9FC5-FA5703A6A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9B0C2"/>
                </a:solidFill>
              </a:defRPr>
            </a:pPr>
            <a:r>
              <a:rPr sz="1500" b="0">
                <a:solidFill>
                  <a:srgbClr val="A9B0C2"/>
                </a:solidFill>
              </a:rPr>
              <a:t>У 5 тижні я доробив інтерфейс, списки, оцінки, коментарі, профіль і підключення backend-частини.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E64756-FF6B-40FF-8F23-9800FA0B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0"/>
            <a:ext cx="2286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71A23"/>
          </a:solidFill>
          <a:ln xmlns:a="http://schemas.openxmlformats.org/drawingml/2006/main" w="9525">
            <a:solidFill>
              <a:srgbClr val="0A84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B76424-430E-41D8-8F2F-8C9E4E1E2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2890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A84FF"/>
                </a:solidFill>
              </a:defRPr>
            </a:pPr>
            <a:r>
              <a:rPr sz="2250" b="1">
                <a:solidFill>
                  <a:srgbClr val="0A84FF"/>
                </a:solidFill>
              </a:rPr>
              <a:t>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E7E789-0ACC-4530-AE49-A9D44761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0C2"/>
                </a:solidFill>
              </a:defRPr>
            </a:pPr>
            <a:r>
              <a:rPr sz="1125" b="0">
                <a:solidFill>
                  <a:srgbClr val="A9B0C2"/>
                </a:solidFill>
              </a:rPr>
              <a:t>фільмів у seed-каталозі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E07FD6-B6E9-417F-A9EA-6227AA01C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476500"/>
            <a:ext cx="2286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71A23"/>
          </a:solidFill>
          <a:ln xmlns:a="http://schemas.openxmlformats.org/drawingml/2006/main" w="9525">
            <a:solidFill>
              <a:srgbClr val="30D1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A34E73-A294-49E7-ABD8-8F69F235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2890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0D158"/>
                </a:solidFill>
              </a:defRPr>
            </a:pPr>
            <a:r>
              <a:rPr sz="2250" b="1">
                <a:solidFill>
                  <a:srgbClr val="30D158"/>
                </a:solidFill>
              </a:rPr>
              <a:t>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C2119C-5579-4857-AD8C-62D394EF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28950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0C2"/>
                </a:solidFill>
              </a:defRPr>
            </a:pPr>
            <a:r>
              <a:rPr sz="1125" b="0">
                <a:solidFill>
                  <a:srgbClr val="A9B0C2"/>
                </a:solidFill>
              </a:rPr>
              <a:t>таблиць PostgreSQL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7D3CE9-3B04-469A-95BD-EE9174EE3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476500"/>
            <a:ext cx="2286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71A23"/>
          </a:solidFill>
          <a:ln xmlns:a="http://schemas.openxmlformats.org/drawingml/2006/main" w="9525">
            <a:solidFill>
              <a:srgbClr val="66D4C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EABCF5-4474-4CF4-BCB4-A43C42FA4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2890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6D4CF"/>
                </a:solidFill>
              </a:defRPr>
            </a:pPr>
            <a:r>
              <a:rPr sz="2250" b="1">
                <a:solidFill>
                  <a:srgbClr val="66D4CF"/>
                </a:solidFill>
              </a:rPr>
              <a:t>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5A55E2-6282-4934-B1AA-70516CA62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28950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0C2"/>
                </a:solidFill>
              </a:defRPr>
            </a:pPr>
            <a:r>
              <a:rPr sz="1125" b="0">
                <a:solidFill>
                  <a:srgbClr val="A9B0C2"/>
                </a:solidFill>
              </a:rPr>
              <a:t>FastAPI endpoint-ів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7E5515-F9BE-44BF-84B0-4D103CA2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76500"/>
            <a:ext cx="2286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71A23"/>
          </a:solidFill>
          <a:ln xmlns:a="http://schemas.openxmlformats.org/drawingml/2006/main" w="9525">
            <a:solidFill>
              <a:srgbClr val="BF5A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968D24-8004-474C-A334-037E9FF2F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2890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F5AF2"/>
                </a:solidFill>
              </a:defRPr>
            </a:pPr>
            <a:r>
              <a:rPr sz="2250" b="1">
                <a:solidFill>
                  <a:srgbClr val="BF5AF2"/>
                </a:solidFill>
              </a:rPr>
              <a:t>AI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2D5231-054E-4C5A-AF8E-B6CB00759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28950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0C2"/>
                </a:solidFill>
              </a:defRPr>
            </a:pPr>
            <a:r>
              <a:rPr sz="1125" b="0">
                <a:solidFill>
                  <a:srgbClr val="A9B0C2"/>
                </a:solidFill>
              </a:rPr>
              <a:t>підбір за смаком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801D07-CB30-42F0-A62E-06FD7D5BD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B1822"/>
          </a:solidFill>
          <a:ln xmlns:a="http://schemas.openxmlformats.org/drawingml/2006/main" w="9525">
            <a:solidFill>
              <a:srgbClr val="66D4C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15B677-3872-487B-8F13-E1D18CFB2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624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D4CF"/>
                </a:solidFill>
              </a:defRPr>
            </a:pPr>
            <a:r>
              <a:rPr sz="1050" b="1">
                <a:solidFill>
                  <a:srgbClr val="66D4CF"/>
                </a:solidFill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A79C36-1AF7-41E8-8D43-07E19514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114800"/>
            <a:ext cx="925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8FF"/>
                </a:solidFill>
              </a:defRPr>
            </a:pPr>
            <a:r>
              <a:rPr sz="1350" b="0">
                <a:solidFill>
                  <a:srgbClr val="F7F8FF"/>
                </a:solidFill>
              </a:rPr>
              <a:t>Переробив головний екран у темному стилі з афішами, великим банером і нижньою навігацією.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7E9C75-F1EF-4B29-B01D-4E69CB2C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B1822"/>
          </a:solidFill>
          <a:ln xmlns:a="http://schemas.openxmlformats.org/drawingml/2006/main" w="9525">
            <a:solidFill>
              <a:srgbClr val="66D4C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E380BC-82FD-4FB5-BDF0-B272C56D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148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D4CF"/>
                </a:solidFill>
              </a:defRPr>
            </a:pPr>
            <a:r>
              <a:rPr sz="1050" b="1">
                <a:solidFill>
                  <a:srgbClr val="66D4CF"/>
                </a:solidFill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DEB2C1-AC4B-420D-BDAA-2CBD49AE9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67250"/>
            <a:ext cx="925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8FF"/>
                </a:solidFill>
              </a:defRPr>
            </a:pPr>
            <a:r>
              <a:rPr sz="1350" b="0">
                <a:solidFill>
                  <a:srgbClr val="F7F8FF"/>
                </a:solidFill>
              </a:rPr>
              <a:t>Додав рейтинги, коментарі, профіль із фото, списки “обране / пізніше / переглянуто”.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849B09-A509-4905-834F-4778167FA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006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B1822"/>
          </a:solidFill>
          <a:ln xmlns:a="http://schemas.openxmlformats.org/drawingml/2006/main" w="9525">
            <a:solidFill>
              <a:srgbClr val="66D4C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D9C202-A9F6-48B2-97DA-B0D594A1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673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D4CF"/>
                </a:solidFill>
              </a:defRPr>
            </a:pPr>
            <a:r>
              <a:rPr sz="1050" b="1">
                <a:solidFill>
                  <a:srgbClr val="66D4CF"/>
                </a:solidFill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13AA61-EFA5-4C16-A6C8-73DA2785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219700"/>
            <a:ext cx="925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8FF"/>
                </a:solidFill>
              </a:defRPr>
            </a:pPr>
            <a:r>
              <a:rPr sz="1350" b="0">
                <a:solidFill>
                  <a:srgbClr val="F7F8FF"/>
                </a:solidFill>
              </a:rPr>
              <a:t>Підготував backend на FastAPI та PostgreSQL-схему для збереження даних.</a:t>
            </a:r>
          </a:p>
        </p:txBody>
      </p:sp>
    </p:spTree>
    <p:extLst>
      <p:ext uri="{BB962C8B-B14F-4D97-AF65-F5344CB8AC3E}">
        <p14:creationId xmlns:p14="http://schemas.microsoft.com/office/powerpoint/2010/main" val="12436549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204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DC0A14-1B1B-449F-9928-F76C3521D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E13C71-6141-4CB9-B7B7-868DD577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3C1496-85F9-4E09-AB4B-CA5C8866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D4CF"/>
                </a:solidFill>
              </a:defRPr>
            </a:pPr>
            <a:r>
              <a:rPr sz="1350" b="1">
                <a:solidFill>
                  <a:srgbClr val="66D4CF"/>
                </a:solidFill>
              </a:rPr>
              <a:t>CineMind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3A4E1C-ECE0-4B2F-B892-4F0779B7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7F8FF"/>
                </a:solidFill>
              </a:defRPr>
            </a:pPr>
            <a:r>
              <a:rPr sz="3000" b="1">
                <a:solidFill>
                  <a:srgbClr val="F7F8FF"/>
                </a:solidFill>
              </a:rPr>
              <a:t>Архітектура застосунку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FBDC98-0226-4C17-9109-AF7AAEB96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9B0C2"/>
                </a:solidFill>
              </a:defRPr>
            </a:pPr>
            <a:r>
              <a:rPr sz="1500" b="0">
                <a:solidFill>
                  <a:srgbClr val="A9B0C2"/>
                </a:solidFill>
              </a:rPr>
              <a:t>Дані проходять від Flutter-інтерфейсу до FastAPI, зберігаються в PostgreSQL і використовуються для рекомендацій.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66B9F9-95E1-4CD5-A6DF-D033C9936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2000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71A23"/>
          </a:solidFill>
          <a:ln xmlns:a="http://schemas.openxmlformats.org/drawingml/2006/main" w="9525">
            <a:solidFill>
              <a:srgbClr val="0A84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02BABA-B196-4CFF-A49E-B9C892F2B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A84FF"/>
                </a:solidFill>
              </a:defRPr>
            </a:pPr>
            <a:r>
              <a:rPr sz="1800" b="1">
                <a:solidFill>
                  <a:srgbClr val="0A84FF"/>
                </a:solidFill>
              </a:rPr>
              <a:t>Flutter UI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0B556D-44F0-41CD-AB02-2E4729DC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9B0C2"/>
                </a:solidFill>
              </a:defRPr>
            </a:pPr>
            <a:r>
              <a:rPr sz="1200" b="0">
                <a:solidFill>
                  <a:srgbClr val="A9B0C2"/>
                </a:solidFill>
              </a:rPr>
              <a:t>екрани, анімації, профіль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50534A-0E3E-4CBA-ABF7-F318E2DF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2004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6D4CF"/>
                </a:solidFill>
              </a:defRPr>
            </a:pPr>
            <a:r>
              <a:rPr sz="2100" b="1">
                <a:solidFill>
                  <a:srgbClr val="66D4CF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0EB862-89DE-4B5C-996D-EADACEAC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686050"/>
            <a:ext cx="2000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71A23"/>
          </a:solidFill>
          <a:ln xmlns:a="http://schemas.openxmlformats.org/drawingml/2006/main" w="9525">
            <a:solidFill>
              <a:srgbClr val="66D4C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B8AACF-5F92-4330-944D-C0190332E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5275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6D4CF"/>
                </a:solidFill>
              </a:defRPr>
            </a:pPr>
            <a:r>
              <a:rPr sz="1800" b="1">
                <a:solidFill>
                  <a:srgbClr val="66D4CF"/>
                </a:solidFill>
              </a:rPr>
              <a:t>FastAPI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03DE23-B5E0-4547-86BC-927AD4706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39090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9B0C2"/>
                </a:solidFill>
              </a:defRPr>
            </a:pPr>
            <a:r>
              <a:rPr sz="1200" b="0">
                <a:solidFill>
                  <a:srgbClr val="A9B0C2"/>
                </a:solidFill>
              </a:rPr>
              <a:t>REST endpoint-и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5DEDD4-A8AF-4C16-A4F7-C15007BF0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2004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6D4CF"/>
                </a:solidFill>
              </a:defRPr>
            </a:pPr>
            <a:r>
              <a:rPr sz="2100" b="1">
                <a:solidFill>
                  <a:srgbClr val="66D4CF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B6F66C-F154-4D2F-90B4-76CB6EE7A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86050"/>
            <a:ext cx="2000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71A23"/>
          </a:solidFill>
          <a:ln xmlns:a="http://schemas.openxmlformats.org/drawingml/2006/main" w="9525">
            <a:solidFill>
              <a:srgbClr val="30D1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588DD1-A168-4EE5-8D4C-6B1353FF3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5275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0D158"/>
                </a:solidFill>
              </a:defRPr>
            </a:pPr>
            <a:r>
              <a:rPr sz="1800" b="1">
                <a:solidFill>
                  <a:srgbClr val="30D158"/>
                </a:solidFill>
              </a:rPr>
              <a:t>PostgreSQL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03E676-0AFB-41FE-B615-27350E113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9090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9B0C2"/>
                </a:solidFill>
              </a:defRPr>
            </a:pPr>
            <a:r>
              <a:rPr sz="1200" b="0">
                <a:solidFill>
                  <a:srgbClr val="A9B0C2"/>
                </a:solidFill>
              </a:rPr>
              <a:t>каталог і дії користувача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2B18BC-6727-4C09-BBEF-07EAAD89C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004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6D4CF"/>
                </a:solidFill>
              </a:defRPr>
            </a:pPr>
            <a:r>
              <a:rPr sz="2100" b="1">
                <a:solidFill>
                  <a:srgbClr val="66D4CF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DE68DA-FF37-44AB-92E2-FB905D7A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686050"/>
            <a:ext cx="2000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71A23"/>
          </a:solidFill>
          <a:ln xmlns:a="http://schemas.openxmlformats.org/drawingml/2006/main" w="9525">
            <a:solidFill>
              <a:srgbClr val="BF5A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55AF48-6104-479D-BD01-CB94E084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5275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F5AF2"/>
                </a:solidFill>
              </a:defRPr>
            </a:pPr>
            <a:r>
              <a:rPr sz="1800" b="1">
                <a:solidFill>
                  <a:srgbClr val="BF5AF2"/>
                </a:solidFill>
              </a:rPr>
              <a:t>AI-сервіс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310F06-2A88-4E00-B296-049F15B91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9090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9B0C2"/>
                </a:solidFill>
              </a:defRPr>
            </a:pPr>
            <a:r>
              <a:rPr sz="1200" b="0">
                <a:solidFill>
                  <a:srgbClr val="A9B0C2"/>
                </a:solidFill>
              </a:rPr>
              <a:t>підбір фільмів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57FAB5-CCC7-41A3-BC58-AD567086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577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7F8FF"/>
                </a:solidFill>
              </a:defRPr>
            </a:pPr>
            <a:r>
              <a:rPr sz="1500" b="0">
                <a:solidFill>
                  <a:srgbClr val="F7F8FF"/>
                </a:solidFill>
              </a:rPr>
              <a:t>Приклад: користувач ставить 5 зірок Interstellar → FastAPI приймає PUT /ratings → PostgreSQL оновлює user_ratings → рекомендації змінюються під цей смак.</a:t>
            </a:r>
          </a:p>
        </p:txBody>
      </p:sp>
    </p:spTree>
    <p:extLst>
      <p:ext uri="{BB962C8B-B14F-4D97-AF65-F5344CB8AC3E}">
        <p14:creationId xmlns:p14="http://schemas.microsoft.com/office/powerpoint/2010/main" val="11374478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204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1E50A9-650F-4B72-B701-2E525AC3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49BB08-E15E-450E-9875-85B94E3DE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4FB9D4-59B9-4883-9DF8-70D88E079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D4CF"/>
                </a:solidFill>
              </a:defRPr>
            </a:pPr>
            <a:r>
              <a:rPr sz="1350" b="1">
                <a:solidFill>
                  <a:srgbClr val="66D4CF"/>
                </a:solidFill>
              </a:rPr>
              <a:t>CineMind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5E2B7D-36DA-48B3-A726-6E9637D0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7F8FF"/>
                </a:solidFill>
              </a:defRPr>
            </a:pPr>
            <a:r>
              <a:rPr sz="3000" b="1">
                <a:solidFill>
                  <a:srgbClr val="F7F8FF"/>
                </a:solidFill>
              </a:rPr>
              <a:t>PostgreSQL зберігає каталог і поведінку користувача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9A328F-CE1D-41E0-A619-CDBAE982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9B0C2"/>
                </a:solidFill>
              </a:defRPr>
            </a:pPr>
            <a:r>
              <a:rPr sz="1500" b="0">
                <a:solidFill>
                  <a:srgbClr val="A9B0C2"/>
                </a:solidFill>
              </a:rPr>
              <a:t>База даних розділена на сутності фільмів, жанрів, акторів і користувацьких дій.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94e646012e4c0b"/>
          <a:stretch xmlns:a="http://schemas.openxmlformats.org/drawingml/2006/main"/>
        </p:blipFill>
        <p:spPr>
          <a:xfrm xmlns:a="http://schemas.openxmlformats.org/drawingml/2006/main">
            <a:off x="685800" y="2469356"/>
            <a:ext cx="5143500" cy="3214688"/>
          </a:xfrm>
          <a:prstGeom xmlns:a="http://schemas.openxmlformats.org/drawingml/2006/main" prst="roundRect">
            <a:avLst>
              <a:gd name="adj" fmla="val 3158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F2ED70-524D-42D7-B5B5-791357401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622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B1822"/>
          </a:solidFill>
          <a:ln xmlns:a="http://schemas.openxmlformats.org/drawingml/2006/main" w="9525">
            <a:solidFill>
              <a:srgbClr val="66D4C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7C9B66-D851-4DEA-807D-E65CA10D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288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D4CF"/>
                </a:solidFill>
              </a:defRPr>
            </a:pPr>
            <a:r>
              <a:rPr sz="1050" b="1">
                <a:solidFill>
                  <a:srgbClr val="66D4C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F86595-0C77-4705-B9F8-A23A5034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81250"/>
            <a:ext cx="430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8FF"/>
                </a:solidFill>
              </a:defRPr>
            </a:pPr>
            <a:r>
              <a:rPr sz="1350" b="0">
                <a:solidFill>
                  <a:srgbClr val="F7F8FF"/>
                </a:solidFill>
              </a:rPr>
              <a:t>Основні таблиці: users, movies, movie_genres, movie_actors.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5577F1-58E9-498A-89FE-51E152BE5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099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B1822"/>
          </a:solidFill>
          <a:ln xmlns:a="http://schemas.openxmlformats.org/drawingml/2006/main" w="9525">
            <a:solidFill>
              <a:srgbClr val="66D4C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9925A9-1BFB-4AA8-BC1A-0173D716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765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D4CF"/>
                </a:solidFill>
              </a:defRPr>
            </a:pPr>
            <a:r>
              <a:rPr sz="1050" b="1">
                <a:solidFill>
                  <a:srgbClr val="66D4C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54FC53-1861-4F25-9EC5-C1143539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28950"/>
            <a:ext cx="430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8FF"/>
                </a:solidFill>
              </a:defRPr>
            </a:pPr>
            <a:r>
              <a:rPr sz="1350" b="0">
                <a:solidFill>
                  <a:srgbClr val="F7F8FF"/>
                </a:solidFill>
              </a:rPr>
              <a:t>Дії користувача: favorites, watch_later, watched_movies, user_ratings.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F40922-7C83-4B2F-91B5-6BD7332C3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576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B1822"/>
          </a:solidFill>
          <a:ln xmlns:a="http://schemas.openxmlformats.org/drawingml/2006/main" w="9525">
            <a:solidFill>
              <a:srgbClr val="66D4C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714C8F-49EE-4A1E-A8CD-F7B238DD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242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D4CF"/>
                </a:solidFill>
              </a:defRPr>
            </a:pPr>
            <a:r>
              <a:rPr sz="1050" b="1">
                <a:solidFill>
                  <a:srgbClr val="66D4CF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E3821A-6969-4A10-AC43-EF7F0CCE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76650"/>
            <a:ext cx="430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8FF"/>
                </a:solidFill>
              </a:defRPr>
            </a:pPr>
            <a:r>
              <a:rPr sz="1350" b="0">
                <a:solidFill>
                  <a:srgbClr val="F7F8FF"/>
                </a:solidFill>
              </a:rPr>
              <a:t>Додано movie_comments для збереження відгуків користувача до фільмів.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7C2BA6-3EA0-4DF5-B65C-0D9A3266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053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B1822"/>
          </a:solidFill>
          <a:ln xmlns:a="http://schemas.openxmlformats.org/drawingml/2006/main" w="9525">
            <a:solidFill>
              <a:srgbClr val="66D4C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96DE39-DEB4-4459-A503-528D52001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719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D4CF"/>
                </a:solidFill>
              </a:defRPr>
            </a:pPr>
            <a:r>
              <a:rPr sz="1050" b="1">
                <a:solidFill>
                  <a:srgbClr val="66D4C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04CDBB-7602-4384-A29A-26210DB6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24350"/>
            <a:ext cx="430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8FF"/>
                </a:solidFill>
              </a:defRPr>
            </a:pPr>
            <a:r>
              <a:rPr sz="1350" b="0">
                <a:solidFill>
                  <a:srgbClr val="F7F8FF"/>
                </a:solidFill>
              </a:rPr>
              <a:t>Запуск через Docker Compose: PostgreSQL + змінна DATABASE_URL для FastAPI.</a:t>
            </a:r>
          </a:p>
        </p:txBody>
      </p:sp>
    </p:spTree>
    <p:extLst>
      <p:ext uri="{BB962C8B-B14F-4D97-AF65-F5344CB8AC3E}">
        <p14:creationId xmlns:p14="http://schemas.microsoft.com/office/powerpoint/2010/main" val="2225589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204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EE7CDD-A9B4-49F4-9010-1062A089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C3EB74-5380-4F46-94A3-4F5D55CDF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05B3D0-91E5-4B13-87F8-7477934A3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D4CF"/>
                </a:solidFill>
              </a:defRPr>
            </a:pPr>
            <a:r>
              <a:rPr sz="1350" b="1">
                <a:solidFill>
                  <a:srgbClr val="66D4CF"/>
                </a:solidFill>
              </a:rPr>
              <a:t>CineMind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727907-B1F6-4B09-82CB-118BA764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7F8FF"/>
                </a:solidFill>
              </a:defRPr>
            </a:pPr>
            <a:r>
              <a:rPr sz="3000" b="1">
                <a:solidFill>
                  <a:srgbClr val="F7F8FF"/>
                </a:solidFill>
              </a:rPr>
              <a:t>FastAPI став шаром між додатком і PostgreSQL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0CC32C-207B-4C5D-A2BB-404EB389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9B0C2"/>
                </a:solidFill>
              </a:defRPr>
            </a:pPr>
            <a:r>
              <a:rPr sz="1500" b="0">
                <a:solidFill>
                  <a:srgbClr val="A9B0C2"/>
                </a:solidFill>
              </a:rPr>
              <a:t>API приймає дії користувача, перевіряє дані через Pydantic і повертає готові відповіді для інтерфейсу.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555277487e41af"/>
          <a:stretch xmlns:a="http://schemas.openxmlformats.org/drawingml/2006/main"/>
        </p:blipFill>
        <p:spPr>
          <a:xfrm xmlns:a="http://schemas.openxmlformats.org/drawingml/2006/main">
            <a:off x="685800" y="2416969"/>
            <a:ext cx="5219700" cy="3262313"/>
          </a:xfrm>
          <a:prstGeom xmlns:a="http://schemas.openxmlformats.org/drawingml/2006/main" prst="roundRect">
            <a:avLst>
              <a:gd name="adj" fmla="val 324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90C276-A990-47B2-B63B-6C6230C0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05050"/>
            <a:ext cx="21336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07131F"/>
          </a:solidFill>
          <a:ln xmlns:a="http://schemas.openxmlformats.org/drawingml/2006/main" w="9525">
            <a:solidFill>
              <a:srgbClr val="0A84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12E154-3B62-4509-B499-0F7CD86E3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4792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8FF"/>
                </a:solidFill>
              </a:defRPr>
            </a:pPr>
            <a:r>
              <a:rPr sz="1050" b="1">
                <a:solidFill>
                  <a:srgbClr val="F7F8FF"/>
                </a:solidFill>
              </a:rPr>
              <a:t>GET /health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677B79-C3A5-489B-BDF0-4B9F1F317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05050"/>
            <a:ext cx="21336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07131F"/>
          </a:solidFill>
          <a:ln xmlns:a="http://schemas.openxmlformats.org/drawingml/2006/main" w="9525">
            <a:solidFill>
              <a:srgbClr val="66D4C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89D737-DDD0-4773-BAED-CDDE8693F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4792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8FF"/>
                </a:solidFill>
              </a:defRPr>
            </a:pPr>
            <a:r>
              <a:rPr sz="1050" b="1">
                <a:solidFill>
                  <a:srgbClr val="F7F8FF"/>
                </a:solidFill>
              </a:rPr>
              <a:t>GET /movies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3D21C7-2926-4C7B-9BBF-F4803E9B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09900"/>
            <a:ext cx="21336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07131F"/>
          </a:solidFill>
          <a:ln xmlns:a="http://schemas.openxmlformats.org/drawingml/2006/main" w="9525">
            <a:solidFill>
              <a:srgbClr val="0A84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9433C7-36B8-4339-B628-D66272CB9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5277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8FF"/>
                </a:solidFill>
              </a:defRPr>
            </a:pPr>
            <a:r>
              <a:rPr sz="1050" b="1">
                <a:solidFill>
                  <a:srgbClr val="F7F8FF"/>
                </a:solidFill>
              </a:rPr>
              <a:t>POST /users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3C61CC-CF27-4517-ACA3-833CD8F81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09900"/>
            <a:ext cx="21336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07131F"/>
          </a:solidFill>
          <a:ln xmlns:a="http://schemas.openxmlformats.org/drawingml/2006/main" w="9525">
            <a:solidFill>
              <a:srgbClr val="66D4C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C656BC-D91E-4F7E-A376-80EB98AD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15277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8FF"/>
                </a:solidFill>
              </a:defRPr>
            </a:pPr>
            <a:r>
              <a:rPr sz="1050" b="1">
                <a:solidFill>
                  <a:srgbClr val="F7F8FF"/>
                </a:solidFill>
              </a:rPr>
              <a:t>PUT /ratings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5D02D5-9F6B-4D0B-A456-208103C3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14750"/>
            <a:ext cx="21336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07131F"/>
          </a:solidFill>
          <a:ln xmlns:a="http://schemas.openxmlformats.org/drawingml/2006/main" w="9525">
            <a:solidFill>
              <a:srgbClr val="0A84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F4D8AC-2E32-4C46-8A02-D0DEBCF6F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5762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8FF"/>
                </a:solidFill>
              </a:defRPr>
            </a:pPr>
            <a:r>
              <a:rPr sz="1050" b="1">
                <a:solidFill>
                  <a:srgbClr val="F7F8FF"/>
                </a:solidFill>
              </a:rPr>
              <a:t>POST /comments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3DE3F7-8AF2-4AD8-99DE-C567E0830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714750"/>
            <a:ext cx="21336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07131F"/>
          </a:solidFill>
          <a:ln xmlns:a="http://schemas.openxmlformats.org/drawingml/2006/main" w="9525">
            <a:solidFill>
              <a:srgbClr val="66D4C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77EBB0-E7EF-48B5-A54A-6096B3885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85762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8FF"/>
                </a:solidFill>
              </a:defRPr>
            </a:pPr>
            <a:r>
              <a:rPr sz="1050" b="1">
                <a:solidFill>
                  <a:srgbClr val="F7F8FF"/>
                </a:solidFill>
              </a:rPr>
              <a:t>POST /recommendations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5178B0-7916-44E7-9DC7-AB21C9F8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19600"/>
            <a:ext cx="21336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07131F"/>
          </a:solidFill>
          <a:ln xmlns:a="http://schemas.openxmlformats.org/drawingml/2006/main" w="9525">
            <a:solidFill>
              <a:srgbClr val="0A84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DE3C44-DCA3-42B3-ABC2-43CF29E3D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6247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8FF"/>
                </a:solidFill>
              </a:defRPr>
            </a:pPr>
            <a:r>
              <a:rPr sz="1050" b="1">
                <a:solidFill>
                  <a:srgbClr val="F7F8FF"/>
                </a:solidFill>
              </a:rPr>
              <a:t>POST /ai/recommend</a:t>
            </a:r>
          </a:p>
        </p:txBody>
      </p:sp>
    </p:spTree>
    <p:extLst>
      <p:ext uri="{BB962C8B-B14F-4D97-AF65-F5344CB8AC3E}">
        <p14:creationId xmlns:p14="http://schemas.microsoft.com/office/powerpoint/2010/main" val="15022912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204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C4BF7C-5DB9-49A3-8CD4-2797A688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2F8FF4-D21F-40D2-A88B-01C260482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DA3C9F-09E6-4892-818F-CB1DA47BE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D4CF"/>
                </a:solidFill>
              </a:defRPr>
            </a:pPr>
            <a:r>
              <a:rPr sz="1350" b="1">
                <a:solidFill>
                  <a:srgbClr val="66D4CF"/>
                </a:solidFill>
              </a:rPr>
              <a:t>CineMind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2C2BC8-3A00-45BC-B90B-3493AC99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7F8FF"/>
                </a:solidFill>
              </a:defRPr>
            </a:pPr>
            <a:r>
              <a:rPr sz="3000" b="1">
                <a:solidFill>
                  <a:srgbClr val="F7F8FF"/>
                </a:solidFill>
              </a:rPr>
              <a:t>Рекомендації залежать від дій користувача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2C51D6-DC5E-49A5-8914-A534AB96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9B0C2"/>
                </a:solidFill>
              </a:defRPr>
            </a:pPr>
            <a:r>
              <a:rPr sz="1500" b="0">
                <a:solidFill>
                  <a:srgbClr val="A9B0C2"/>
                </a:solidFill>
              </a:rPr>
              <a:t>Підбір фільмів враховує запит, жанрові смаки, оцінки, переглянуті фільми і коментарі.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16080b756e4708"/>
          <a:srcRect xmlns:a="http://schemas.openxmlformats.org/drawingml/2006/main" l="11715" t="0" r="1171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228850"/>
            <a:ext cx="4953000" cy="3638550"/>
          </a:xfrm>
          <a:prstGeom xmlns:a="http://schemas.openxmlformats.org/drawingml/2006/main" prst="roundRect">
            <a:avLst>
              <a:gd name="adj" fmla="val 3141"/>
            </a:avLst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abddadf5154770"/>
          <a:stretch xmlns:a="http://schemas.openxmlformats.org/drawingml/2006/main"/>
        </p:blipFill>
        <p:spPr>
          <a:xfrm xmlns:a="http://schemas.openxmlformats.org/drawingml/2006/main">
            <a:off x="7392396" y="2228850"/>
            <a:ext cx="1903007" cy="3638550"/>
          </a:xfrm>
          <a:prstGeom xmlns:a="http://schemas.openxmlformats.org/drawingml/2006/main" prst="roundRect">
            <a:avLst>
              <a:gd name="adj" fmla="val 3141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0BE515-9718-43AE-9440-6F5B344A7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0198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6D4CF"/>
                </a:solidFill>
              </a:defRPr>
            </a:pPr>
            <a:r>
              <a:rPr sz="1350" b="1">
                <a:solidFill>
                  <a:srgbClr val="66D4CF"/>
                </a:solidFill>
              </a:rPr>
              <a:t>Логіка підбору: збіг жанрів + оцінка користувача + врахування переглянутих фільмів + коротке пояснення вибору.</a:t>
            </a:r>
          </a:p>
        </p:txBody>
      </p:sp>
    </p:spTree>
    <p:extLst>
      <p:ext uri="{BB962C8B-B14F-4D97-AF65-F5344CB8AC3E}">
        <p14:creationId xmlns:p14="http://schemas.microsoft.com/office/powerpoint/2010/main" val="16104509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204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09C698-1820-4B96-92C1-C709C130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686BAD-FDBC-4782-8380-96425282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71BFA6-41B2-47BD-9742-C6893D06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D4CF"/>
                </a:solidFill>
              </a:defRPr>
            </a:pPr>
            <a:r>
              <a:rPr sz="1350" b="1">
                <a:solidFill>
                  <a:srgbClr val="66D4CF"/>
                </a:solidFill>
              </a:rPr>
              <a:t>CineMind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E8007F-DF4D-4961-8C41-442E0E1C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7F8FF"/>
                </a:solidFill>
              </a:defRPr>
            </a:pPr>
            <a:r>
              <a:rPr sz="3000" b="1">
                <a:solidFill>
                  <a:srgbClr val="F7F8FF"/>
                </a:solidFill>
              </a:rPr>
              <a:t>Інтерфейс складається з кількох робочих екранів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8B507C-2D47-4C48-9BCB-684B524BA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9B0C2"/>
                </a:solidFill>
              </a:defRPr>
            </a:pPr>
            <a:r>
              <a:rPr sz="1500" b="0">
                <a:solidFill>
                  <a:srgbClr val="A9B0C2"/>
                </a:solidFill>
              </a:rPr>
              <a:t>Є авторизація, вибір смаків, головна стрічка, деталі фільму, оцінки, коментарі та профіль.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9faddf3736419b"/>
          <a:srcRect xmlns:a="http://schemas.openxmlformats.org/drawingml/2006/main" l="7978" t="0" r="79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095500"/>
            <a:ext cx="2419350" cy="1619250"/>
          </a:xfrm>
          <a:prstGeom xmlns:a="http://schemas.openxmlformats.org/drawingml/2006/main" prst="roundRect">
            <a:avLst>
              <a:gd name="adj" fmla="val 7059"/>
            </a:avLst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968ea776c64340"/>
          <a:srcRect xmlns:a="http://schemas.openxmlformats.org/drawingml/2006/main" l="7978" t="0" r="79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95650" y="2095500"/>
            <a:ext cx="2419350" cy="1619250"/>
          </a:xfrm>
          <a:prstGeom xmlns:a="http://schemas.openxmlformats.org/drawingml/2006/main" prst="roundRect">
            <a:avLst>
              <a:gd name="adj" fmla="val 7059"/>
            </a:avLst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cf3b55fa234898"/>
          <a:srcRect xmlns:a="http://schemas.openxmlformats.org/drawingml/2006/main" l="7978" t="0" r="79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0" y="2095500"/>
            <a:ext cx="2419350" cy="1619250"/>
          </a:xfrm>
          <a:prstGeom xmlns:a="http://schemas.openxmlformats.org/drawingml/2006/main" prst="roundRect">
            <a:avLst>
              <a:gd name="adj" fmla="val 7059"/>
            </a:avLst>
          </a:prstGeom>
        </p:spPr>
      </p:pic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003a3b54344fc9"/>
          <a:srcRect xmlns:a="http://schemas.openxmlformats.org/drawingml/2006/main" l="7978" t="0" r="79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15350" y="2095500"/>
            <a:ext cx="2419350" cy="1619250"/>
          </a:xfrm>
          <a:prstGeom xmlns:a="http://schemas.openxmlformats.org/drawingml/2006/main" prst="roundRect">
            <a:avLst>
              <a:gd name="adj" fmla="val 7059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27F295-B8E5-4C01-8979-8D5AFA672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243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B1822"/>
          </a:solidFill>
          <a:ln xmlns:a="http://schemas.openxmlformats.org/drawingml/2006/main" w="9525">
            <a:solidFill>
              <a:srgbClr val="66D4C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55721E-ADC4-4ADF-8751-FAF3B1B8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910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D4CF"/>
                </a:solidFill>
              </a:defRPr>
            </a:pPr>
            <a:r>
              <a:rPr sz="1050" b="1">
                <a:solidFill>
                  <a:srgbClr val="66D4CF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B6D854-E202-4F68-98C5-41F5DA7D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43400"/>
            <a:ext cx="8877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8FF"/>
                </a:solidFill>
              </a:defRPr>
            </a:pPr>
            <a:r>
              <a:rPr sz="1350" b="0">
                <a:solidFill>
                  <a:srgbClr val="F7F8FF"/>
                </a:solidFill>
              </a:rPr>
              <a:t>Афіші, блок трейлера, анімації та match meter роблять каталог зрозумілішим.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C8ED78-671C-4E20-8257-C77448206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768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B1822"/>
          </a:solidFill>
          <a:ln xmlns:a="http://schemas.openxmlformats.org/drawingml/2006/main" w="9525">
            <a:solidFill>
              <a:srgbClr val="66D4C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5F84C4-630B-43D1-977B-A533FF75B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434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D4CF"/>
                </a:solidFill>
              </a:defRPr>
            </a:pPr>
            <a:r>
              <a:rPr sz="1050" b="1">
                <a:solidFill>
                  <a:srgbClr val="66D4CF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EEA0EF-EE1F-4B5C-BEE7-F4DE6852B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895850"/>
            <a:ext cx="8877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8FF"/>
                </a:solidFill>
              </a:defRPr>
            </a:pPr>
            <a:r>
              <a:rPr sz="1350" b="0">
                <a:solidFill>
                  <a:srgbClr val="F7F8FF"/>
                </a:solidFill>
              </a:rPr>
              <a:t>Оцінка зірочками зберігається у стані застосунку і впливає на підбір.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CF5FE1-93C0-4DB2-91D2-08ECB9E01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292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B1822"/>
          </a:solidFill>
          <a:ln xmlns:a="http://schemas.openxmlformats.org/drawingml/2006/main" w="9525">
            <a:solidFill>
              <a:srgbClr val="66D4C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9A46D4-BB12-42B0-9BC6-8282EA8CE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959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D4CF"/>
                </a:solidFill>
              </a:defRPr>
            </a:pPr>
            <a:r>
              <a:rPr sz="1050" b="1">
                <a:solidFill>
                  <a:srgbClr val="66D4C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BA0B57-B25F-4EA9-BDFC-2B9D5FC9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48300"/>
            <a:ext cx="8877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8FF"/>
                </a:solidFill>
              </a:defRPr>
            </a:pPr>
            <a:r>
              <a:rPr sz="1350" b="0">
                <a:solidFill>
                  <a:srgbClr val="F7F8FF"/>
                </a:solidFill>
              </a:rPr>
              <a:t>Профіль можна редагувати: ім’я, фото за URL та опис свого смаку.</a:t>
            </a:r>
          </a:p>
        </p:txBody>
      </p:sp>
    </p:spTree>
    <p:extLst>
      <p:ext uri="{BB962C8B-B14F-4D97-AF65-F5344CB8AC3E}">
        <p14:creationId xmlns:p14="http://schemas.microsoft.com/office/powerpoint/2010/main" val="15391899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204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9AC26B-1B31-4CA8-96B3-3B907BDAD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B49212-D9A9-4B3E-816A-C62200E2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8337BE-E67B-4C98-9981-C5C9AEE77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D4CF"/>
                </a:solidFill>
              </a:defRPr>
            </a:pPr>
            <a:r>
              <a:rPr sz="1350" b="1">
                <a:solidFill>
                  <a:srgbClr val="66D4CF"/>
                </a:solidFill>
              </a:rPr>
              <a:t>CineMind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031F77-C954-4098-A563-D26C72C7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7F8FF"/>
                </a:solidFill>
              </a:defRPr>
            </a:pPr>
            <a:r>
              <a:rPr sz="3000" b="1">
                <a:solidFill>
                  <a:srgbClr val="F7F8FF"/>
                </a:solidFill>
              </a:rPr>
              <a:t>Код розділений за відповідальністю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A00817-921C-4D7E-B7D9-E47A2F12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9B0C2"/>
                </a:solidFill>
              </a:defRPr>
            </a:pPr>
            <a:r>
              <a:rPr sz="1500" b="0">
                <a:solidFill>
                  <a:srgbClr val="A9B0C2"/>
                </a:solidFill>
              </a:rPr>
              <a:t>Flutter відповідає за UX, FastAPI за HTTP-логіку, PostgreSQL за структуроване збереження даних.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f6f0eb5ceb4a76"/>
          <a:stretch xmlns:a="http://schemas.openxmlformats.org/drawingml/2006/main"/>
        </p:blipFill>
        <p:spPr>
          <a:xfrm xmlns:a="http://schemas.openxmlformats.org/drawingml/2006/main">
            <a:off x="1389295" y="2247900"/>
            <a:ext cx="1793410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93699c0bf44a19"/>
          <a:stretch xmlns:a="http://schemas.openxmlformats.org/drawingml/2006/main"/>
        </p:blipFill>
        <p:spPr>
          <a:xfrm xmlns:a="http://schemas.openxmlformats.org/drawingml/2006/main">
            <a:off x="4381500" y="2890838"/>
            <a:ext cx="3429000" cy="2143125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23af84cddb415c"/>
          <a:stretch xmlns:a="http://schemas.openxmlformats.org/drawingml/2006/main"/>
        </p:blipFill>
        <p:spPr>
          <a:xfrm xmlns:a="http://schemas.openxmlformats.org/drawingml/2006/main">
            <a:off x="8191500" y="2890838"/>
            <a:ext cx="3429000" cy="2143125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7805B1-37CE-4E20-8A88-5589DA8B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483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A84FF"/>
                </a:solidFill>
              </a:defRPr>
            </a:pPr>
            <a:r>
              <a:rPr sz="1350" b="1">
                <a:solidFill>
                  <a:srgbClr val="0A84FF"/>
                </a:solidFill>
              </a:rPr>
              <a:t>Flutter logic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E459A4-BF73-426B-A89A-3EF7462B9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8483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6D4CF"/>
                </a:solidFill>
              </a:defRPr>
            </a:pPr>
            <a:r>
              <a:rPr sz="1350" b="1">
                <a:solidFill>
                  <a:srgbClr val="66D4CF"/>
                </a:solidFill>
              </a:rPr>
              <a:t>VS Code: FastAPI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F557EA-27C4-49C1-8A89-72C6172B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8483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0D158"/>
                </a:solidFill>
              </a:defRPr>
            </a:pPr>
            <a:r>
              <a:rPr sz="1350" b="1">
                <a:solidFill>
                  <a:srgbClr val="30D158"/>
                </a:solidFill>
              </a:rPr>
              <a:t>VS Code: PostgreSQL</a:t>
            </a:r>
          </a:p>
        </p:txBody>
      </p:sp>
    </p:spTree>
    <p:extLst>
      <p:ext uri="{BB962C8B-B14F-4D97-AF65-F5344CB8AC3E}">
        <p14:creationId xmlns:p14="http://schemas.microsoft.com/office/powerpoint/2010/main" val="7425134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204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94169E-A3A5-4163-BDE9-D342D8C6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5FE9AD-98CE-4232-8E50-E4021422A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462D86-0C70-467C-982D-0C2AC631A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D4CF"/>
                </a:solidFill>
              </a:defRPr>
            </a:pPr>
            <a:r>
              <a:rPr sz="1350" b="1">
                <a:solidFill>
                  <a:srgbClr val="66D4CF"/>
                </a:solidFill>
              </a:rPr>
              <a:t>CineMind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BB55C9-89B9-43C0-9A9F-1EA120CD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7F8FF"/>
                </a:solidFill>
              </a:defRPr>
            </a:pPr>
            <a:r>
              <a:rPr sz="3000" b="1">
                <a:solidFill>
                  <a:srgbClr val="F7F8FF"/>
                </a:solidFill>
              </a:rPr>
              <a:t>Проєкт перевірено перед захистом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49B387-A86A-4967-B335-B0015D30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9B0C2"/>
                </a:solidFill>
              </a:defRPr>
            </a:pPr>
            <a:r>
              <a:rPr sz="1500" b="0">
                <a:solidFill>
                  <a:srgbClr val="A9B0C2"/>
                </a:solidFill>
              </a:rPr>
              <a:t>Фокус перевірки: застосунок запускається, код аналізується без issues, базові тести проходять.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48DC02-94C9-49F1-B0FD-B3FBBEEC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2476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71A23"/>
          </a:solidFill>
          <a:ln xmlns:a="http://schemas.openxmlformats.org/drawingml/2006/main" w="9525">
            <a:solidFill>
              <a:srgbClr val="30D1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715D38-CA76-4122-B96C-223D45DA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0D158"/>
                </a:solidFill>
              </a:defRPr>
            </a:pPr>
            <a:r>
              <a:rPr sz="2250" b="1">
                <a:solidFill>
                  <a:srgbClr val="30D158"/>
                </a:solidFill>
              </a:rPr>
              <a:t>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E60374-C81E-4B36-949A-2B98DB11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2420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0C2"/>
                </a:solidFill>
              </a:defRPr>
            </a:pPr>
            <a:r>
              <a:rPr sz="1125" b="0">
                <a:solidFill>
                  <a:srgbClr val="A9B0C2"/>
                </a:solidFill>
              </a:rPr>
              <a:t>Flutter analyze issues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611253-CC3B-43F0-BE50-1F0A6D788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71750"/>
            <a:ext cx="2476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71A23"/>
          </a:solidFill>
          <a:ln xmlns:a="http://schemas.openxmlformats.org/drawingml/2006/main" w="9525">
            <a:solidFill>
              <a:srgbClr val="66D4C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9671B3-00E3-4851-A684-222391D9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2415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6D4CF"/>
                </a:solidFill>
              </a:defRPr>
            </a:pPr>
            <a:r>
              <a:rPr sz="2250" b="1">
                <a:solidFill>
                  <a:srgbClr val="66D4CF"/>
                </a:solidFill>
              </a:rPr>
              <a:t>1/1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0DB0CC-3EAE-41EE-8553-0F3E62E7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2420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0C2"/>
                </a:solidFill>
              </a:defRPr>
            </a:pPr>
            <a:r>
              <a:rPr sz="1125" b="0">
                <a:solidFill>
                  <a:srgbClr val="A9B0C2"/>
                </a:solidFill>
              </a:rPr>
              <a:t>widget test passed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3D9974-267F-4912-999F-CF459F34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71750"/>
            <a:ext cx="2476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71A23"/>
          </a:solidFill>
          <a:ln xmlns:a="http://schemas.openxmlformats.org/drawingml/2006/main" w="9525">
            <a:solidFill>
              <a:srgbClr val="0A84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1A524-B686-4F1D-87BB-855472E6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72415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A84FF"/>
                </a:solidFill>
              </a:defRPr>
            </a:pPr>
            <a:r>
              <a:rPr sz="2250" b="1">
                <a:solidFill>
                  <a:srgbClr val="0A84FF"/>
                </a:solidFill>
              </a:rPr>
              <a:t>OK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472B4C-A939-44E8-B2EE-BCFAC7BFE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2420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0C2"/>
                </a:solidFill>
              </a:defRPr>
            </a:pPr>
            <a:r>
              <a:rPr sz="1125" b="0">
                <a:solidFill>
                  <a:srgbClr val="A9B0C2"/>
                </a:solidFill>
              </a:rPr>
              <a:t>backend py_compile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1E411F-EE31-4954-B991-45E4ABD78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910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B1822"/>
          </a:solidFill>
          <a:ln xmlns:a="http://schemas.openxmlformats.org/drawingml/2006/main" w="9525">
            <a:solidFill>
              <a:srgbClr val="66D4C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6B4016-0F56-4839-A264-5720407F6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576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D4CF"/>
                </a:solidFill>
              </a:defRPr>
            </a:pPr>
            <a:r>
              <a:rPr sz="1050" b="1">
                <a:solidFill>
                  <a:srgbClr val="66D4CF"/>
                </a:solidFill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3E9715-DE5A-4CD4-BE9F-F706E91B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210050"/>
            <a:ext cx="9163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8FF"/>
                </a:solidFill>
              </a:defRPr>
            </a:pPr>
            <a:r>
              <a:rPr sz="1350" b="0">
                <a:solidFill>
                  <a:srgbClr val="F7F8FF"/>
                </a:solidFill>
              </a:rPr>
              <a:t>flutter analyze: No issues found.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94E2CB-9BDD-46EF-A95A-94297DCBD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672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B1822"/>
          </a:solidFill>
          <a:ln xmlns:a="http://schemas.openxmlformats.org/drawingml/2006/main" w="9525">
            <a:solidFill>
              <a:srgbClr val="66D4C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7E6C97-7A00-4756-9ED8-710599EC7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339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D4CF"/>
                </a:solidFill>
              </a:defRPr>
            </a:pPr>
            <a:r>
              <a:rPr sz="1050" b="1">
                <a:solidFill>
                  <a:srgbClr val="66D4CF"/>
                </a:solidFill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AC73AD-9DD5-40EC-9822-B15C47D65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686300"/>
            <a:ext cx="9163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8FF"/>
                </a:solidFill>
              </a:defRPr>
            </a:pPr>
            <a:r>
              <a:rPr sz="1350" b="0">
                <a:solidFill>
                  <a:srgbClr val="F7F8FF"/>
                </a:solidFill>
              </a:rPr>
              <a:t>flutter test: All tests passed.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1FC4D5-6315-4757-8161-E92F8730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435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B1822"/>
          </a:solidFill>
          <a:ln xmlns:a="http://schemas.openxmlformats.org/drawingml/2006/main" w="9525">
            <a:solidFill>
              <a:srgbClr val="66D4C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851F6B-8306-473A-B59C-DB7F31B9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101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D4CF"/>
                </a:solidFill>
              </a:defRPr>
            </a:pPr>
            <a:r>
              <a:rPr sz="1050" b="1">
                <a:solidFill>
                  <a:srgbClr val="66D4CF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1D00E1-BDBD-4C9D-B98B-7A4E3F7C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162550"/>
            <a:ext cx="9163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8FF"/>
                </a:solidFill>
              </a:defRPr>
            </a:pPr>
            <a:r>
              <a:rPr sz="1350" b="0">
                <a:solidFill>
                  <a:srgbClr val="F7F8FF"/>
                </a:solidFill>
              </a:rPr>
              <a:t>python -m py_compile backend/main.py: синтаксис FastAPI backend валідний.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CD19F5-F4FE-42EF-8F4B-D8DCC9B0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197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B1822"/>
          </a:solidFill>
          <a:ln xmlns:a="http://schemas.openxmlformats.org/drawingml/2006/main" w="9525">
            <a:solidFill>
              <a:srgbClr val="66D4C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744CFB-A333-4C00-A139-7D4BB350B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864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D4CF"/>
                </a:solidFill>
              </a:defRPr>
            </a:pPr>
            <a:r>
              <a:rPr sz="1050" b="1">
                <a:solidFill>
                  <a:srgbClr val="66D4CF"/>
                </a:solidFill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E190EB-7B0C-4C18-B678-AAA4A4AC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638800"/>
            <a:ext cx="9163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8FF"/>
                </a:solidFill>
              </a:defRPr>
            </a:pPr>
            <a:r>
              <a:rPr sz="1350" b="0">
                <a:solidFill>
                  <a:srgbClr val="F7F8FF"/>
                </a:solidFill>
              </a:rPr>
              <a:t>Додатково перевірено backend-файл через Python-компіляцію.</a:t>
            </a:r>
          </a:p>
        </p:txBody>
      </p:sp>
    </p:spTree>
    <p:extLst>
      <p:ext uri="{BB962C8B-B14F-4D97-AF65-F5344CB8AC3E}">
        <p14:creationId xmlns:p14="http://schemas.microsoft.com/office/powerpoint/2010/main" val="3346554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204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C7C5D9-AE41-4BB5-82BC-57879338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2F6C52-37C3-4B51-85A0-58E989D5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E40BDF-6404-4921-ADC9-92E584DD4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D4CF"/>
                </a:solidFill>
              </a:defRPr>
            </a:pPr>
            <a:r>
              <a:rPr sz="1350" b="1">
                <a:solidFill>
                  <a:srgbClr val="66D4CF"/>
                </a:solidFill>
              </a:rPr>
              <a:t>CineMind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BE2E8D-9B53-4E14-A857-BF8C979F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7F8FF"/>
                </a:solidFill>
              </a:defRPr>
            </a:pPr>
            <a:r>
              <a:rPr sz="3000" b="1">
                <a:solidFill>
                  <a:srgbClr val="F7F8FF"/>
                </a:solidFill>
              </a:rPr>
              <a:t>Що показати на захисті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63D511-B637-4086-90D0-C9419FCCD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9B0C2"/>
                </a:solidFill>
              </a:defRPr>
            </a:pPr>
            <a:r>
              <a:rPr sz="1500" b="0">
                <a:solidFill>
                  <a:srgbClr val="A9B0C2"/>
                </a:solidFill>
              </a:rPr>
              <a:t>Демонстрацію можна провести по кроках: інтерфейс, оцінки, коментарі, backend і база даних.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462C70-597F-4A5D-9830-BA7E2B3DC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765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B1822"/>
          </a:solidFill>
          <a:ln xmlns:a="http://schemas.openxmlformats.org/drawingml/2006/main" w="9525">
            <a:solidFill>
              <a:srgbClr val="66D4C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BAE40E-8F41-499C-BF2A-4FF4AE717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431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D4CF"/>
                </a:solidFill>
              </a:defRPr>
            </a:pPr>
            <a:r>
              <a:rPr sz="1050" b="1">
                <a:solidFill>
                  <a:srgbClr val="66D4C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97168E-6F36-48A1-93E6-E53B8E4AC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495550"/>
            <a:ext cx="8401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8FF"/>
                </a:solidFill>
              </a:defRPr>
            </a:pPr>
            <a:r>
              <a:rPr sz="1350" b="0">
                <a:solidFill>
                  <a:srgbClr val="F7F8FF"/>
                </a:solidFill>
              </a:rPr>
              <a:t>Показати авторизацію, вибір смаків, головну стрічку й деталі фільму.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4133DF-2D2A-4F88-BC46-62C38A624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242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B1822"/>
          </a:solidFill>
          <a:ln xmlns:a="http://schemas.openxmlformats.org/drawingml/2006/main" w="9525">
            <a:solidFill>
              <a:srgbClr val="66D4C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20A08D-82E5-4D60-BB00-C2B8A8E7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908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D4CF"/>
                </a:solidFill>
              </a:defRPr>
            </a:pPr>
            <a:r>
              <a:rPr sz="1050" b="1">
                <a:solidFill>
                  <a:srgbClr val="66D4C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D080F2-15F9-4E4A-AB6F-456906D9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143250"/>
            <a:ext cx="8401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8FF"/>
                </a:solidFill>
              </a:defRPr>
            </a:pPr>
            <a:r>
              <a:rPr sz="1350" b="0">
                <a:solidFill>
                  <a:srgbClr val="F7F8FF"/>
                </a:solidFill>
              </a:rPr>
              <a:t>Поставити оцінку, додати коментар і показати, що ці дані впливають на рекомендації.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824371-E5A6-4CFC-A32A-0EC8B69E5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719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B1822"/>
          </a:solidFill>
          <a:ln xmlns:a="http://schemas.openxmlformats.org/drawingml/2006/main" w="9525">
            <a:solidFill>
              <a:srgbClr val="66D4C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B312B9-F2B3-41E3-BFA2-645AA7181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385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D4CF"/>
                </a:solidFill>
              </a:defRPr>
            </a:pPr>
            <a:r>
              <a:rPr sz="1050" b="1">
                <a:solidFill>
                  <a:srgbClr val="66D4C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3D54F4-B29F-48C6-A5AD-FF62455A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90950"/>
            <a:ext cx="8401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8FF"/>
                </a:solidFill>
              </a:defRPr>
            </a:pPr>
            <a:r>
              <a:rPr sz="1350" b="0">
                <a:solidFill>
                  <a:srgbClr val="F7F8FF"/>
                </a:solidFill>
              </a:rPr>
              <a:t>Відкрити вкладку “Система” та пояснити Flutter → FastAPI → PostgreSQL → рекомендації.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062A82-23CD-4B12-A7E1-DD99199C6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196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B1822"/>
          </a:solidFill>
          <a:ln xmlns:a="http://schemas.openxmlformats.org/drawingml/2006/main" w="9525">
            <a:solidFill>
              <a:srgbClr val="66D4C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B672B1-F5CB-49D4-89B5-6C3C5575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862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D4CF"/>
                </a:solidFill>
              </a:defRPr>
            </a:pPr>
            <a:r>
              <a:rPr sz="1050" b="1">
                <a:solidFill>
                  <a:srgbClr val="66D4CF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9067F5-65DB-4D9B-A760-91273E93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438650"/>
            <a:ext cx="8401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8FF"/>
                </a:solidFill>
              </a:defRPr>
            </a:pPr>
            <a:r>
              <a:rPr sz="1350" b="0">
                <a:solidFill>
                  <a:srgbClr val="F7F8FF"/>
                </a:solidFill>
              </a:rPr>
              <a:t>Показати backend/main.py і schema.sql як доказ підключення бази даних.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B5B86D-EB98-409C-8B9F-86C542C0A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7912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6D4CF"/>
                </a:solidFill>
              </a:defRPr>
            </a:pPr>
            <a:r>
              <a:rPr sz="1500" b="1">
                <a:solidFill>
                  <a:srgbClr val="66D4CF"/>
                </a:solidFill>
              </a:rPr>
              <a:t>GitHub: github.com/Vanil-CEO/CineMind-movie-ai</a:t>
            </a:r>
          </a:p>
        </p:txBody>
      </p:sp>
    </p:spTree>
    <p:extLst>
      <p:ext uri="{BB962C8B-B14F-4D97-AF65-F5344CB8AC3E}">
        <p14:creationId xmlns:p14="http://schemas.microsoft.com/office/powerpoint/2010/main" val="12355117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2026-07-14T21:13:56.0830000Z</dcterms:created>
  <dcterms:modified xsi:type="dcterms:W3CDTF">2026-07-14T21:13:56.0830000Z</dcterms:modified>
</coreProperties>
</file>